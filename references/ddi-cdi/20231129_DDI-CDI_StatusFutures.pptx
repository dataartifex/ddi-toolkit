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2" r:id="rId4"/>
    <p:sldId id="626" r:id="rId5"/>
    <p:sldId id="619" r:id="rId6"/>
    <p:sldId id="265" r:id="rId7"/>
    <p:sldId id="266" r:id="rId8"/>
    <p:sldId id="263" r:id="rId9"/>
    <p:sldId id="627" r:id="rId10"/>
    <p:sldId id="258" r:id="rId11"/>
    <p:sldId id="259" r:id="rId12"/>
    <p:sldId id="260" r:id="rId13"/>
    <p:sldId id="261" r:id="rId14"/>
    <p:sldId id="610" r:id="rId15"/>
    <p:sldId id="615" r:id="rId16"/>
    <p:sldId id="628" r:id="rId17"/>
    <p:sldId id="62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3DE27-81CC-4C2B-A1C7-7A747BBFB5F2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1FF65-A4E9-45C4-A163-282F21EEF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18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1D656-562F-4672-9768-3C654A67C61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69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E142-69D0-B313-89C8-8597C372A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BC392-5FE7-90A0-4214-C627025DB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55B75-9D37-5EEF-5B65-C41F0F9A2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3CF86-AE7D-0D14-A7A1-4C9CCFCEB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EAECC-2BC8-D954-5E69-093B31B2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2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B3E2-E282-A466-1F05-20D6EDA18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8E549-A061-2752-4558-732F1D425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9F609-9253-FC74-955A-B7E36B81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D20B5-F457-0DD0-A600-9C579CE1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86415-E306-9EA9-B418-7F434BFE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78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DBF8-09BD-CEDE-F2BD-935E6D730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F7EEC-B099-A78B-8A9C-9D796E2DC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4C5BA-D4A1-7672-803B-4FBFDD833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1C2E1-3BB4-662B-8DCF-BF5F1C285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310D2-CF66-8D17-9E49-A3D377FF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46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DAA7-22B1-AF3C-0718-1964716E3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7675C-F382-BF5D-2B89-03E4BE33D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2C096-C072-AD19-28CC-6BB1A9A64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95863-47DD-187A-BE3D-55A87DC3E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31F10-F9BA-3B25-DF6C-27385C8E4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FF099-C26C-FC66-5035-40F0F10D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1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4063-B9AC-9AB5-204F-121F3452C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98626-05B4-B85F-DAD8-B2F755C22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BE764-5AAE-9E9C-E424-578AD42D6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D7AA7-D252-5A19-EEC3-59E424506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07478F-3597-A1C5-A774-A8E696DA5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B69EF7-9E6C-6FAE-7E5B-A3A8A1F1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897194-FFF1-5827-9F74-47169D571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A02E33-D98B-6513-83FA-23B5CD07F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8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16BB-3B9C-16C9-8AE3-49D695088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62542-5128-DDA2-9FD5-8DE7EF5E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48FCD-098E-B579-2E7F-0DD1D93E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74965-440B-A9FB-5CE8-3A13FE75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6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DF6A8-59FC-13F8-B136-2E3C9FAD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82674A-934A-837B-8677-7FD0C2058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275E7-C7F7-6803-3500-7031B2FD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6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9BD66-D0AE-32B5-A1A4-B978F3351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3B118-3C0A-EFCF-4473-BAB8BA3E8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E67E5-E7AB-F005-73AB-AFFA12E67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9659C-D929-38FE-3AD2-860CD6860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31445-7429-FE06-C0FA-3C35924F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3B18C-642A-DFD6-3B59-D6623C95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1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C007-5B9A-FFF6-082A-5F7146E79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10012D-1530-F15C-646D-1F91BC22E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FEC21-36B0-89F1-0F75-985B61525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C4ADC-BF2D-99C2-79F1-B8F6CD2AA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3C992-7F48-2107-FFB9-7F534A30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9B81F-1D7B-3DC1-BE5F-32421C2D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8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3E45-951F-2ED6-795D-F9ED8297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BFB5F-D376-6844-62DC-9B6EC0CDB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D10E5-1C95-96FF-1375-DDA774C39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C7157-7CF0-3105-115F-F49993419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C8FDD-31AD-4AB7-4F9F-53015838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7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9E87C0-47CB-D5B8-E902-4901896E09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5AC01-CF4C-E22D-97F8-31F3DC1A0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DF221-BB34-D9CA-5AB6-7A4EC700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A50EC-1A5E-91E3-42E1-3DEE5BE1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CE2C7-232C-4EF5-41CE-692F3D8BF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8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A80735-B492-6D6A-CA7C-1DFDF2C44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4F02A-7DD5-6FA3-3B4C-6C758045F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4EF7A-5CF7-576E-3915-85301BAE1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CC493-6709-4AF4-BA65-216ED3BB3669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8DC01-F227-58C7-9234-9651577C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3264A-7D20-BEFA-92A3-925D5358A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6719-C730-4CDD-B9A3-F364D7F95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5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e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bitbucket.org/ddi-alliance/ddi-cdi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beuster.pythonanywhere.com/" TargetMode="External"/><Relationship Id="rId2" Type="http://schemas.openxmlformats.org/officeDocument/2006/relationships/hyperlink" Target="https://ddialliance.github.io/ddi-cdi-sample-generator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1D59-0CD4-2F69-E2E4-6495B5DDE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DDI-Cross-Domain Integration (DDI-CDI): Current Status and Further Developments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05CF1-4FF0-33D5-E99E-015A4E87D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Arofan Gregory, CODATA</a:t>
            </a:r>
          </a:p>
          <a:p>
            <a:r>
              <a:rPr lang="en-US" dirty="0"/>
              <a:t>Chair, DDI-CDI WG</a:t>
            </a:r>
          </a:p>
          <a:p>
            <a:r>
              <a:rPr lang="en-US" dirty="0"/>
              <a:t>EDDI 2023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011EC31-6485-3AF0-746C-9D42BDB3B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574" y="5948431"/>
            <a:ext cx="1106628" cy="3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A1534D-786A-A2DE-7AF3-904CF0E97A85}"/>
              </a:ext>
            </a:extLst>
          </p:cNvPr>
          <p:cNvSpPr/>
          <p:nvPr/>
        </p:nvSpPr>
        <p:spPr>
          <a:xfrm>
            <a:off x="5355990" y="6381328"/>
            <a:ext cx="6651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de-DE" dirty="0" err="1"/>
              <a:t>License</a:t>
            </a:r>
            <a:r>
              <a:rPr lang="de-DE" dirty="0"/>
              <a:t>: </a:t>
            </a:r>
            <a:r>
              <a:rPr lang="de-DE" u="sng" dirty="0">
                <a:hlinkClick r:id="rId3"/>
              </a:rPr>
              <a:t>Creative </a:t>
            </a:r>
            <a:r>
              <a:rPr lang="de-DE" u="sng" dirty="0" err="1">
                <a:hlinkClick r:id="rId3"/>
              </a:rPr>
              <a:t>Commons</a:t>
            </a:r>
            <a:r>
              <a:rPr lang="de-DE" u="sng" dirty="0">
                <a:hlinkClick r:id="rId3"/>
              </a:rPr>
              <a:t> Attribution 4.0 International (CC BY 4.0)</a:t>
            </a:r>
            <a:endParaRPr lang="nb-NO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226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3D0B-F0FE-4DE3-8509-6B690EFC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9F855-952F-B63C-E079-A6A2BE8F6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DDI-CDI</a:t>
            </a:r>
          </a:p>
          <a:p>
            <a:r>
              <a:rPr lang="en-US" dirty="0"/>
              <a:t>Status</a:t>
            </a:r>
          </a:p>
          <a:p>
            <a:r>
              <a:rPr lang="en-US" dirty="0" err="1"/>
              <a:t>Dagstuhl</a:t>
            </a:r>
            <a:r>
              <a:rPr lang="en-US" dirty="0"/>
              <a:t> and Upcoming Events</a:t>
            </a:r>
          </a:p>
          <a:p>
            <a:r>
              <a:rPr lang="en-US" dirty="0"/>
              <a:t>Topics for Further Work</a:t>
            </a:r>
          </a:p>
          <a:p>
            <a:r>
              <a:rPr lang="en-US" dirty="0"/>
              <a:t>Prototypes</a:t>
            </a:r>
          </a:p>
          <a:p>
            <a:r>
              <a:rPr lang="en-US" dirty="0"/>
              <a:t>Prospects</a:t>
            </a:r>
          </a:p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03259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37F3-4801-A12F-65C6-1B1AF994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DDI-CDI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4307-BA1F-903C-5F26-15171918D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Model-driven standard</a:t>
            </a:r>
          </a:p>
          <a:p>
            <a:pPr lvl="1"/>
            <a:r>
              <a:rPr lang="en-US" dirty="0"/>
              <a:t>UML model in Canonical XMI is the core specification (UCMIS subset of UML features)</a:t>
            </a:r>
          </a:p>
          <a:p>
            <a:pPr lvl="1"/>
            <a:r>
              <a:rPr lang="en-US" dirty="0"/>
              <a:t>XML and RDF syntax representations (OWL, JSON-LD) produced programmatically</a:t>
            </a:r>
          </a:p>
          <a:p>
            <a:pPr lvl="1"/>
            <a:r>
              <a:rPr lang="en-US" dirty="0"/>
              <a:t>Other representations in development (Python, </a:t>
            </a:r>
            <a:r>
              <a:rPr lang="en-US" dirty="0" err="1"/>
              <a:t>ShEx</a:t>
            </a:r>
            <a:r>
              <a:rPr lang="en-US" dirty="0"/>
              <a:t>, SHACL, Java, etc.)</a:t>
            </a:r>
          </a:p>
          <a:p>
            <a:r>
              <a:rPr lang="en-US" dirty="0"/>
              <a:t>Domain-neutral, but designed to work with DDI-C and DDI-L</a:t>
            </a:r>
          </a:p>
          <a:p>
            <a:r>
              <a:rPr lang="en-US" dirty="0"/>
              <a:t>Designed to work with other popular web standards (Schema.org, DCAT, SKOS/XKOS, SDTL, PROV-O, etc.) and domain standards</a:t>
            </a:r>
          </a:p>
          <a:p>
            <a:r>
              <a:rPr lang="en-US" dirty="0"/>
              <a:t>Supports machine-actionability for dissemination/reuse</a:t>
            </a:r>
          </a:p>
          <a:p>
            <a:r>
              <a:rPr lang="en-US" dirty="0"/>
              <a:t>Based on the DDI 4/”Moving Forward” model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0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2646-2D45-A0B2-BF8A-137DBDB0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EF90E-DC6F-3A81-0050-57EACB9C1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Describes data in new formats for easier integration with traditional data</a:t>
            </a:r>
          </a:p>
          <a:p>
            <a:pPr lvl="1"/>
            <a:r>
              <a:rPr lang="en-US" dirty="0"/>
              <a:t>Wide (traditional) data</a:t>
            </a:r>
          </a:p>
          <a:p>
            <a:pPr lvl="1"/>
            <a:r>
              <a:rPr lang="en-US" dirty="0"/>
              <a:t>Long data (sensor/event)</a:t>
            </a:r>
          </a:p>
          <a:p>
            <a:pPr lvl="1"/>
            <a:r>
              <a:rPr lang="en-US" dirty="0"/>
              <a:t>Key-value (big) data </a:t>
            </a:r>
          </a:p>
          <a:p>
            <a:pPr lvl="1"/>
            <a:r>
              <a:rPr lang="en-US" dirty="0"/>
              <a:t>Multi-dimensional (cube) data</a:t>
            </a:r>
          </a:p>
          <a:p>
            <a:r>
              <a:rPr lang="en-US" dirty="0"/>
              <a:t>Exposes data resources for easier integration by users from </a:t>
            </a:r>
            <a:r>
              <a:rPr lang="en-US" i="1" dirty="0"/>
              <a:t>any domain</a:t>
            </a:r>
          </a:p>
          <a:p>
            <a:pPr lvl="1"/>
            <a:r>
              <a:rPr lang="en-US" dirty="0"/>
              <a:t>Describes the variables/datums in a data set</a:t>
            </a:r>
          </a:p>
          <a:p>
            <a:pPr lvl="1"/>
            <a:r>
              <a:rPr lang="en-US" dirty="0"/>
              <a:t>Describes how semantics (</a:t>
            </a:r>
            <a:r>
              <a:rPr lang="en-US" dirty="0" err="1"/>
              <a:t>codelists</a:t>
            </a:r>
            <a:r>
              <a:rPr lang="en-US" dirty="0"/>
              <a:t>/ontologies/concepts) as attached to the data and the </a:t>
            </a:r>
            <a:r>
              <a:rPr lang="en-US" i="1" dirty="0"/>
              <a:t>roles</a:t>
            </a:r>
            <a:r>
              <a:rPr lang="en-US" dirty="0"/>
              <a:t> they play</a:t>
            </a:r>
          </a:p>
          <a:p>
            <a:pPr lvl="1"/>
            <a:r>
              <a:rPr lang="en-US" dirty="0"/>
              <a:t>Supports re-assembly of variables/datums into any needed data structure </a:t>
            </a:r>
          </a:p>
          <a:p>
            <a:r>
              <a:rPr lang="en-US" dirty="0"/>
              <a:t>Describes the </a:t>
            </a:r>
            <a:r>
              <a:rPr lang="en-US" i="1" dirty="0"/>
              <a:t>process</a:t>
            </a:r>
            <a:r>
              <a:rPr lang="en-US" dirty="0"/>
              <a:t> of data integration so that users can understand unfamiliar data </a:t>
            </a:r>
          </a:p>
          <a:p>
            <a:r>
              <a:rPr lang="en-US" dirty="0"/>
              <a:t>DDI-CDI does not cover study-level metadata: it relies on other standards to provide this </a:t>
            </a:r>
          </a:p>
        </p:txBody>
      </p:sp>
    </p:spTree>
    <p:extLst>
      <p:ext uri="{BB962C8B-B14F-4D97-AF65-F5344CB8AC3E}">
        <p14:creationId xmlns:p14="http://schemas.microsoft.com/office/powerpoint/2010/main" val="3631393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13648F7-AF5A-4391-B4B1-6911589A3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17" y="938333"/>
            <a:ext cx="9838566" cy="553956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22E30CE-0EB6-4556-85F6-387F650C4E06}"/>
              </a:ext>
            </a:extLst>
          </p:cNvPr>
          <p:cNvSpPr txBox="1">
            <a:spLocks/>
          </p:cNvSpPr>
          <p:nvPr/>
        </p:nvSpPr>
        <p:spPr>
          <a:xfrm>
            <a:off x="838200" y="385503"/>
            <a:ext cx="10515600" cy="56878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u="none" kern="1200">
                <a:solidFill>
                  <a:schemeClr val="tx1"/>
                </a:solidFill>
                <a:latin typeface="Arial MT Std" panose="020B0402020200020204" pitchFamily="34" charset="0"/>
                <a:ea typeface="+mj-ea"/>
                <a:cs typeface="+mj-cs"/>
              </a:defRPr>
            </a:lvl1pPr>
          </a:lstStyle>
          <a:p>
            <a:r>
              <a:rPr lang="en-CA" sz="26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DDI-CDI at-a-glance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F2FF10-9A4D-4F68-8DB1-B894458E9430}"/>
              </a:ext>
            </a:extLst>
          </p:cNvPr>
          <p:cNvSpPr/>
          <p:nvPr/>
        </p:nvSpPr>
        <p:spPr>
          <a:xfrm>
            <a:off x="1796902" y="2897371"/>
            <a:ext cx="2966484" cy="3418367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CA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Organization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809B6E-0477-4679-9B21-383AFA36F167}"/>
              </a:ext>
            </a:extLst>
          </p:cNvPr>
          <p:cNvSpPr/>
          <p:nvPr/>
        </p:nvSpPr>
        <p:spPr>
          <a:xfrm>
            <a:off x="7428616" y="2895600"/>
            <a:ext cx="3329763" cy="3418367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Concepts &amp; Representations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9B5F12-21C5-4D62-BC87-19A7D1926AA6}"/>
              </a:ext>
            </a:extLst>
          </p:cNvPr>
          <p:cNvSpPr/>
          <p:nvPr/>
        </p:nvSpPr>
        <p:spPr>
          <a:xfrm>
            <a:off x="2684721" y="1105786"/>
            <a:ext cx="6948377" cy="1789814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CA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 Description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5E3EF60-39C2-443E-B2BE-0D8D246BB30A}"/>
              </a:ext>
            </a:extLst>
          </p:cNvPr>
          <p:cNvSpPr/>
          <p:nvPr/>
        </p:nvSpPr>
        <p:spPr>
          <a:xfrm>
            <a:off x="5101903" y="2906254"/>
            <a:ext cx="2020238" cy="340771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dirty="0">
                <a:solidFill>
                  <a:srgbClr val="C00000"/>
                </a:solidFill>
              </a:rPr>
              <a:t>Variable Cascade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AA2F57-0514-02E0-FAD9-7C43C17667FC}"/>
              </a:ext>
            </a:extLst>
          </p:cNvPr>
          <p:cNvSpPr txBox="1"/>
          <p:nvPr/>
        </p:nvSpPr>
        <p:spPr>
          <a:xfrm>
            <a:off x="6261448" y="6488668"/>
            <a:ext cx="541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Courtesy of the amazing Flavio </a:t>
            </a:r>
            <a:r>
              <a:rPr lang="en-US" dirty="0" err="1"/>
              <a:t>Rizzolo</a:t>
            </a:r>
            <a:r>
              <a:rPr lang="en-US" dirty="0"/>
              <a:t>, Statistics Canada</a:t>
            </a:r>
          </a:p>
        </p:txBody>
      </p:sp>
    </p:spTree>
    <p:extLst>
      <p:ext uri="{BB962C8B-B14F-4D97-AF65-F5344CB8AC3E}">
        <p14:creationId xmlns:p14="http://schemas.microsoft.com/office/powerpoint/2010/main" val="209081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>
            <a:extLst>
              <a:ext uri="{FF2B5EF4-FFF2-40B4-BE49-F238E27FC236}">
                <a16:creationId xmlns:a16="http://schemas.microsoft.com/office/drawing/2014/main" id="{7EDE3CD8-BB9E-F8C4-B543-48480104749E}"/>
              </a:ext>
            </a:extLst>
          </p:cNvPr>
          <p:cNvSpPr/>
          <p:nvPr/>
        </p:nvSpPr>
        <p:spPr>
          <a:xfrm>
            <a:off x="718457" y="3872204"/>
            <a:ext cx="1614196" cy="1156996"/>
          </a:xfrm>
          <a:prstGeom prst="cube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215C8-D8BE-55C2-AC97-063FD033E7FA}"/>
              </a:ext>
            </a:extLst>
          </p:cNvPr>
          <p:cNvSpPr txBox="1"/>
          <p:nvPr/>
        </p:nvSpPr>
        <p:spPr>
          <a:xfrm>
            <a:off x="541476" y="5048865"/>
            <a:ext cx="4274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Dimensional Data Set:</a:t>
            </a:r>
          </a:p>
          <a:p>
            <a:r>
              <a:rPr lang="en-US" b="1" dirty="0"/>
              <a:t>Age x Year x Region x Education Level x Sex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C214587-E7D9-1A67-E5F9-E863603CE297}"/>
              </a:ext>
            </a:extLst>
          </p:cNvPr>
          <p:cNvSpPr/>
          <p:nvPr/>
        </p:nvSpPr>
        <p:spPr>
          <a:xfrm>
            <a:off x="806245" y="1435510"/>
            <a:ext cx="1307690" cy="1156996"/>
          </a:xfrm>
          <a:prstGeom prst="foldedCorne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AF9E7-C9C0-CA8E-07D2-5A9638FC045E}"/>
              </a:ext>
            </a:extLst>
          </p:cNvPr>
          <p:cNvSpPr txBox="1"/>
          <p:nvPr/>
        </p:nvSpPr>
        <p:spPr>
          <a:xfrm>
            <a:off x="831264" y="1533832"/>
            <a:ext cx="127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DDI-CDI </a:t>
            </a:r>
          </a:p>
          <a:p>
            <a:r>
              <a:rPr lang="en-US" b="1" dirty="0"/>
              <a:t>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16DF79-AEF9-EAC8-056C-7B0E9FD58F79}"/>
              </a:ext>
            </a:extLst>
          </p:cNvPr>
          <p:cNvSpPr txBox="1"/>
          <p:nvPr/>
        </p:nvSpPr>
        <p:spPr>
          <a:xfrm>
            <a:off x="578566" y="2671875"/>
            <a:ext cx="31232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Variables</a:t>
            </a:r>
          </a:p>
          <a:p>
            <a:r>
              <a:rPr lang="en-US" dirty="0"/>
              <a:t>- Structure</a:t>
            </a:r>
          </a:p>
          <a:p>
            <a:r>
              <a:rPr lang="en-US" dirty="0"/>
              <a:t>- Roles (Dimensions, Measures)</a:t>
            </a:r>
          </a:p>
          <a:p>
            <a:r>
              <a:rPr lang="en-US" dirty="0"/>
              <a:t>- Physical arrangement</a:t>
            </a:r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1C9C7381-40E8-BB76-20AD-9B11149B5344}"/>
              </a:ext>
            </a:extLst>
          </p:cNvPr>
          <p:cNvSpPr/>
          <p:nvPr/>
        </p:nvSpPr>
        <p:spPr>
          <a:xfrm>
            <a:off x="4680154" y="185208"/>
            <a:ext cx="2035278" cy="182880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DDI-CDI Model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13BD2E-3FCD-347C-F3D8-303A58107629}"/>
              </a:ext>
            </a:extLst>
          </p:cNvPr>
          <p:cNvCxnSpPr>
            <a:cxnSpLocks/>
          </p:cNvCxnSpPr>
          <p:nvPr/>
        </p:nvCxnSpPr>
        <p:spPr>
          <a:xfrm>
            <a:off x="2272455" y="2592506"/>
            <a:ext cx="624228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92768EC-AA6A-5944-FEA3-3BD29CB555C5}"/>
              </a:ext>
            </a:extLst>
          </p:cNvPr>
          <p:cNvSpPr/>
          <p:nvPr/>
        </p:nvSpPr>
        <p:spPr>
          <a:xfrm>
            <a:off x="5447071" y="2080282"/>
            <a:ext cx="462116" cy="3581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32CFB0C-03CB-15CB-47FF-3147C85C52E6}"/>
              </a:ext>
            </a:extLst>
          </p:cNvPr>
          <p:cNvCxnSpPr>
            <a:cxnSpLocks/>
          </p:cNvCxnSpPr>
          <p:nvPr/>
        </p:nvCxnSpPr>
        <p:spPr>
          <a:xfrm>
            <a:off x="2426060" y="4377719"/>
            <a:ext cx="45843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A39A289-B83D-A415-2DB4-8EB5E1C2D8B9}"/>
              </a:ext>
            </a:extLst>
          </p:cNvPr>
          <p:cNvSpPr/>
          <p:nvPr/>
        </p:nvSpPr>
        <p:spPr>
          <a:xfrm>
            <a:off x="7254216" y="4138819"/>
            <a:ext cx="2320413" cy="1358548"/>
          </a:xfrm>
          <a:prstGeom prst="rect">
            <a:avLst/>
          </a:prstGeom>
          <a:pattFill prst="lgGrid">
            <a:fgClr>
              <a:schemeClr val="tx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5036C1-76E6-190B-D41B-34A5DDADEDBE}"/>
              </a:ext>
            </a:extLst>
          </p:cNvPr>
          <p:cNvSpPr txBox="1"/>
          <p:nvPr/>
        </p:nvSpPr>
        <p:spPr>
          <a:xfrm>
            <a:off x="7148051" y="5593709"/>
            <a:ext cx="3830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Wide Data Set: Dimensions viewed as </a:t>
            </a:r>
          </a:p>
          <a:p>
            <a:r>
              <a:rPr lang="en-US" b="1" dirty="0"/>
              <a:t>Variables (properties)</a:t>
            </a:r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A7574046-D1E2-A503-9F58-CF3291FAC23A}"/>
              </a:ext>
            </a:extLst>
          </p:cNvPr>
          <p:cNvSpPr/>
          <p:nvPr/>
        </p:nvSpPr>
        <p:spPr>
          <a:xfrm>
            <a:off x="10628233" y="1501784"/>
            <a:ext cx="1465006" cy="1156996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Domain Metadata Standards/ Models</a:t>
            </a:r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32B81671-8BBA-A494-D0F9-0E1419BE3DDF}"/>
              </a:ext>
            </a:extLst>
          </p:cNvPr>
          <p:cNvSpPr/>
          <p:nvPr/>
        </p:nvSpPr>
        <p:spPr>
          <a:xfrm>
            <a:off x="8673255" y="1552504"/>
            <a:ext cx="1307690" cy="1156996"/>
          </a:xfrm>
          <a:prstGeom prst="foldedCorne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588AFA-D794-C3EE-5AA3-C0CC20BE586E}"/>
              </a:ext>
            </a:extLst>
          </p:cNvPr>
          <p:cNvSpPr txBox="1"/>
          <p:nvPr/>
        </p:nvSpPr>
        <p:spPr>
          <a:xfrm>
            <a:off x="8702726" y="1613010"/>
            <a:ext cx="127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DDI-CDI </a:t>
            </a:r>
          </a:p>
          <a:p>
            <a:r>
              <a:rPr lang="en-US" b="1" dirty="0"/>
              <a:t>Description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EA58AC-F8D9-C203-9696-523235890B99}"/>
              </a:ext>
            </a:extLst>
          </p:cNvPr>
          <p:cNvSpPr txBox="1"/>
          <p:nvPr/>
        </p:nvSpPr>
        <p:spPr>
          <a:xfrm>
            <a:off x="8154320" y="2736306"/>
            <a:ext cx="40240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Variables</a:t>
            </a:r>
          </a:p>
          <a:p>
            <a:r>
              <a:rPr lang="en-US" dirty="0"/>
              <a:t>- Structure</a:t>
            </a:r>
          </a:p>
          <a:p>
            <a:r>
              <a:rPr lang="en-US" dirty="0"/>
              <a:t>- Roles (Identifiers, Attributes. Measures)</a:t>
            </a:r>
          </a:p>
          <a:p>
            <a:r>
              <a:rPr lang="en-US" dirty="0"/>
              <a:t>- Physical arrangement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6947240-8FEC-80FF-1203-510E42BD5DB2}"/>
              </a:ext>
            </a:extLst>
          </p:cNvPr>
          <p:cNvCxnSpPr>
            <a:cxnSpLocks/>
          </p:cNvCxnSpPr>
          <p:nvPr/>
        </p:nvCxnSpPr>
        <p:spPr>
          <a:xfrm>
            <a:off x="9995256" y="2113043"/>
            <a:ext cx="6329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9A6B460-45CF-4F8D-CFCD-3D7686EEB2F6}"/>
              </a:ext>
            </a:extLst>
          </p:cNvPr>
          <p:cNvSpPr txBox="1"/>
          <p:nvPr/>
        </p:nvSpPr>
        <p:spPr>
          <a:xfrm>
            <a:off x="4680154" y="2685153"/>
            <a:ext cx="211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[TRANSFORMATION]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027D57-587F-0F9B-A9CE-F86B3F794B21}"/>
              </a:ext>
            </a:extLst>
          </p:cNvPr>
          <p:cNvSpPr txBox="1"/>
          <p:nvPr/>
        </p:nvSpPr>
        <p:spPr>
          <a:xfrm>
            <a:off x="3562678" y="4411877"/>
            <a:ext cx="211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[TRANSFORMATION]</a:t>
            </a: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4CD80FFE-2A2A-BFBA-83D4-622EFF7D283E}"/>
              </a:ext>
            </a:extLst>
          </p:cNvPr>
          <p:cNvSpPr/>
          <p:nvPr/>
        </p:nvSpPr>
        <p:spPr>
          <a:xfrm>
            <a:off x="7148051" y="185208"/>
            <a:ext cx="1750143" cy="622084"/>
          </a:xfrm>
          <a:prstGeom prst="wedgeRectCallout">
            <a:avLst>
              <a:gd name="adj1" fmla="val -77575"/>
              <a:gd name="adj2" fmla="val 30906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2C6592-3837-8C56-1968-5CE85147216E}"/>
              </a:ext>
            </a:extLst>
          </p:cNvPr>
          <p:cNvSpPr txBox="1"/>
          <p:nvPr/>
        </p:nvSpPr>
        <p:spPr>
          <a:xfrm>
            <a:off x="7178105" y="185208"/>
            <a:ext cx="1381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Predictable, </a:t>
            </a:r>
          </a:p>
          <a:p>
            <a:r>
              <a:rPr lang="en-US" dirty="0"/>
              <a:t>automatable</a:t>
            </a:r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61AA05E2-8516-7F2B-EF25-A755D91B2B08}"/>
              </a:ext>
            </a:extLst>
          </p:cNvPr>
          <p:cNvSpPr/>
          <p:nvPr/>
        </p:nvSpPr>
        <p:spPr>
          <a:xfrm>
            <a:off x="5724819" y="3226017"/>
            <a:ext cx="1750143" cy="622084"/>
          </a:xfrm>
          <a:prstGeom prst="wedgeRectCallout">
            <a:avLst>
              <a:gd name="adj1" fmla="val -101171"/>
              <a:gd name="adj2" fmla="val 12414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3436FF-4A77-4080-33AA-6FB90548FEBD}"/>
              </a:ext>
            </a:extLst>
          </p:cNvPr>
          <p:cNvSpPr txBox="1"/>
          <p:nvPr/>
        </p:nvSpPr>
        <p:spPr>
          <a:xfrm>
            <a:off x="5754873" y="3226017"/>
            <a:ext cx="1381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Predictable, </a:t>
            </a:r>
          </a:p>
          <a:p>
            <a:r>
              <a:rPr lang="en-US" dirty="0"/>
              <a:t>automatable</a:t>
            </a:r>
          </a:p>
        </p:txBody>
      </p:sp>
    </p:spTree>
    <p:extLst>
      <p:ext uri="{BB962C8B-B14F-4D97-AF65-F5344CB8AC3E}">
        <p14:creationId xmlns:p14="http://schemas.microsoft.com/office/powerpoint/2010/main" val="1120691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423F84-1464-05E7-7F04-6E04DCF39400}"/>
              </a:ext>
            </a:extLst>
          </p:cNvPr>
          <p:cNvSpPr/>
          <p:nvPr/>
        </p:nvSpPr>
        <p:spPr>
          <a:xfrm>
            <a:off x="1259633" y="839755"/>
            <a:ext cx="625151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A51E8-908F-E802-3165-4E67E4E89828}"/>
              </a:ext>
            </a:extLst>
          </p:cNvPr>
          <p:cNvSpPr/>
          <p:nvPr/>
        </p:nvSpPr>
        <p:spPr>
          <a:xfrm>
            <a:off x="1724608" y="1601755"/>
            <a:ext cx="625151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4B6193-2F5C-774A-3DCC-B8335E232130}"/>
              </a:ext>
            </a:extLst>
          </p:cNvPr>
          <p:cNvSpPr/>
          <p:nvPr/>
        </p:nvSpPr>
        <p:spPr>
          <a:xfrm>
            <a:off x="572277" y="2500601"/>
            <a:ext cx="1646854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420BFF-0469-78DA-F063-EA0CA90A3217}"/>
              </a:ext>
            </a:extLst>
          </p:cNvPr>
          <p:cNvSpPr/>
          <p:nvPr/>
        </p:nvSpPr>
        <p:spPr>
          <a:xfrm>
            <a:off x="2321767" y="839754"/>
            <a:ext cx="1018592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02472E-CACB-B54A-1933-67DA99741327}"/>
              </a:ext>
            </a:extLst>
          </p:cNvPr>
          <p:cNvSpPr/>
          <p:nvPr/>
        </p:nvSpPr>
        <p:spPr>
          <a:xfrm>
            <a:off x="2615681" y="2198913"/>
            <a:ext cx="1018592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5446A-B411-20EC-4FB0-183BCF09559D}"/>
              </a:ext>
            </a:extLst>
          </p:cNvPr>
          <p:cNvSpPr txBox="1"/>
          <p:nvPr/>
        </p:nvSpPr>
        <p:spPr>
          <a:xfrm>
            <a:off x="1622781" y="3996607"/>
            <a:ext cx="1192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EB07CC7-60B9-7112-23FF-82BDDA71242D}"/>
              </a:ext>
            </a:extLst>
          </p:cNvPr>
          <p:cNvSpPr/>
          <p:nvPr/>
        </p:nvSpPr>
        <p:spPr>
          <a:xfrm>
            <a:off x="4104684" y="1426510"/>
            <a:ext cx="1376267" cy="76822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2D6A1-BA4B-52D8-B5F1-AC98C22303B9}"/>
              </a:ext>
            </a:extLst>
          </p:cNvPr>
          <p:cNvSpPr/>
          <p:nvPr/>
        </p:nvSpPr>
        <p:spPr>
          <a:xfrm>
            <a:off x="5937378" y="743336"/>
            <a:ext cx="625151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6B314B-61B2-D393-742F-1177AA225D71}"/>
              </a:ext>
            </a:extLst>
          </p:cNvPr>
          <p:cNvSpPr/>
          <p:nvPr/>
        </p:nvSpPr>
        <p:spPr>
          <a:xfrm>
            <a:off x="7660492" y="743335"/>
            <a:ext cx="625151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1B9B3-CBFF-EA0E-E70D-730414BB4143}"/>
              </a:ext>
            </a:extLst>
          </p:cNvPr>
          <p:cNvSpPr/>
          <p:nvPr/>
        </p:nvSpPr>
        <p:spPr>
          <a:xfrm>
            <a:off x="9386717" y="743334"/>
            <a:ext cx="1376951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4D5742-5DE2-4381-6B9D-A5A675943020}"/>
              </a:ext>
            </a:extLst>
          </p:cNvPr>
          <p:cNvSpPr/>
          <p:nvPr/>
        </p:nvSpPr>
        <p:spPr>
          <a:xfrm>
            <a:off x="6606102" y="743335"/>
            <a:ext cx="1018592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C3EDA-1197-EF1D-6B9E-977FA8722907}"/>
              </a:ext>
            </a:extLst>
          </p:cNvPr>
          <p:cNvSpPr/>
          <p:nvPr/>
        </p:nvSpPr>
        <p:spPr>
          <a:xfrm>
            <a:off x="8321441" y="734003"/>
            <a:ext cx="1018592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52476-CD30-C8F8-FC94-C7694D05EA51}"/>
              </a:ext>
            </a:extLst>
          </p:cNvPr>
          <p:cNvSpPr/>
          <p:nvPr/>
        </p:nvSpPr>
        <p:spPr>
          <a:xfrm>
            <a:off x="2662334" y="3100871"/>
            <a:ext cx="1192699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FC7B67-A537-7581-B36F-B87E6D0F34AA}"/>
              </a:ext>
            </a:extLst>
          </p:cNvPr>
          <p:cNvSpPr/>
          <p:nvPr/>
        </p:nvSpPr>
        <p:spPr>
          <a:xfrm>
            <a:off x="10811069" y="743334"/>
            <a:ext cx="1192699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8A7AAB-96B8-245E-E833-91478CA48F27}"/>
              </a:ext>
            </a:extLst>
          </p:cNvPr>
          <p:cNvSpPr/>
          <p:nvPr/>
        </p:nvSpPr>
        <p:spPr>
          <a:xfrm>
            <a:off x="5949813" y="1436912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0D471E-404B-B7DD-2765-9637C38F2AFB}"/>
              </a:ext>
            </a:extLst>
          </p:cNvPr>
          <p:cNvSpPr/>
          <p:nvPr/>
        </p:nvSpPr>
        <p:spPr>
          <a:xfrm>
            <a:off x="7672927" y="1436911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DC5727-0963-96BF-5AB4-79FEE03C5E4F}"/>
              </a:ext>
            </a:extLst>
          </p:cNvPr>
          <p:cNvSpPr/>
          <p:nvPr/>
        </p:nvSpPr>
        <p:spPr>
          <a:xfrm>
            <a:off x="9399152" y="1436910"/>
            <a:ext cx="13769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C86060-B043-B38B-C8BF-43D23B410DAD}"/>
              </a:ext>
            </a:extLst>
          </p:cNvPr>
          <p:cNvSpPr/>
          <p:nvPr/>
        </p:nvSpPr>
        <p:spPr>
          <a:xfrm>
            <a:off x="6618537" y="1436911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C9F1D0-7D68-9751-E7E1-E2FB57258758}"/>
              </a:ext>
            </a:extLst>
          </p:cNvPr>
          <p:cNvSpPr/>
          <p:nvPr/>
        </p:nvSpPr>
        <p:spPr>
          <a:xfrm>
            <a:off x="8333876" y="1427579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3B4043-3B92-3D22-2838-43DB55EAF95E}"/>
              </a:ext>
            </a:extLst>
          </p:cNvPr>
          <p:cNvSpPr/>
          <p:nvPr/>
        </p:nvSpPr>
        <p:spPr>
          <a:xfrm>
            <a:off x="10823504" y="1436910"/>
            <a:ext cx="1192699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CF5275-C6C3-EC37-F351-DCBB1C02A10A}"/>
              </a:ext>
            </a:extLst>
          </p:cNvPr>
          <p:cNvSpPr/>
          <p:nvPr/>
        </p:nvSpPr>
        <p:spPr>
          <a:xfrm>
            <a:off x="5952917" y="2130488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FA6628-A3A0-884A-2C7E-7A20B8F2DFD9}"/>
              </a:ext>
            </a:extLst>
          </p:cNvPr>
          <p:cNvSpPr/>
          <p:nvPr/>
        </p:nvSpPr>
        <p:spPr>
          <a:xfrm>
            <a:off x="7676031" y="2130487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84687A-71AE-1013-96D5-D4F191AE47F4}"/>
              </a:ext>
            </a:extLst>
          </p:cNvPr>
          <p:cNvSpPr/>
          <p:nvPr/>
        </p:nvSpPr>
        <p:spPr>
          <a:xfrm>
            <a:off x="9402256" y="2130486"/>
            <a:ext cx="13769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A31F6C-F8B9-5B57-BD0D-FB5878D38069}"/>
              </a:ext>
            </a:extLst>
          </p:cNvPr>
          <p:cNvSpPr/>
          <p:nvPr/>
        </p:nvSpPr>
        <p:spPr>
          <a:xfrm>
            <a:off x="6621641" y="2130487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49168C-A4E9-D6D8-8B77-F22E85E5C853}"/>
              </a:ext>
            </a:extLst>
          </p:cNvPr>
          <p:cNvSpPr/>
          <p:nvPr/>
        </p:nvSpPr>
        <p:spPr>
          <a:xfrm>
            <a:off x="8336980" y="2121155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BF3A2A-A692-A385-FAE2-2AFC8E9DD22F}"/>
              </a:ext>
            </a:extLst>
          </p:cNvPr>
          <p:cNvSpPr/>
          <p:nvPr/>
        </p:nvSpPr>
        <p:spPr>
          <a:xfrm>
            <a:off x="10826608" y="2130486"/>
            <a:ext cx="1192699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B50BF0-7934-2E2B-ED80-D335428387C4}"/>
              </a:ext>
            </a:extLst>
          </p:cNvPr>
          <p:cNvSpPr/>
          <p:nvPr/>
        </p:nvSpPr>
        <p:spPr>
          <a:xfrm>
            <a:off x="5971579" y="2820953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99E400-8387-73B4-8A0A-FC2F7946D00A}"/>
              </a:ext>
            </a:extLst>
          </p:cNvPr>
          <p:cNvSpPr/>
          <p:nvPr/>
        </p:nvSpPr>
        <p:spPr>
          <a:xfrm>
            <a:off x="7694693" y="2820952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0EF460-DE87-A7DD-1C4A-7C40C6A9E087}"/>
              </a:ext>
            </a:extLst>
          </p:cNvPr>
          <p:cNvSpPr/>
          <p:nvPr/>
        </p:nvSpPr>
        <p:spPr>
          <a:xfrm>
            <a:off x="9420918" y="2820951"/>
            <a:ext cx="13769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0E8AE7-264D-C196-C1B2-BEA16D980116}"/>
              </a:ext>
            </a:extLst>
          </p:cNvPr>
          <p:cNvSpPr/>
          <p:nvPr/>
        </p:nvSpPr>
        <p:spPr>
          <a:xfrm>
            <a:off x="6640303" y="2820952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617AA5-5ACF-8565-C2E7-D587CD46E15C}"/>
              </a:ext>
            </a:extLst>
          </p:cNvPr>
          <p:cNvSpPr/>
          <p:nvPr/>
        </p:nvSpPr>
        <p:spPr>
          <a:xfrm>
            <a:off x="8355642" y="2811620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F5E919-9CE5-3190-D93C-BD3BF9D6D9E1}"/>
              </a:ext>
            </a:extLst>
          </p:cNvPr>
          <p:cNvSpPr/>
          <p:nvPr/>
        </p:nvSpPr>
        <p:spPr>
          <a:xfrm>
            <a:off x="10845270" y="2820951"/>
            <a:ext cx="1192699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35" name="Cube 34">
            <a:extLst>
              <a:ext uri="{FF2B5EF4-FFF2-40B4-BE49-F238E27FC236}">
                <a16:creationId xmlns:a16="http://schemas.microsoft.com/office/drawing/2014/main" id="{FD0437C6-578D-3769-0589-17ED93A52F85}"/>
              </a:ext>
            </a:extLst>
          </p:cNvPr>
          <p:cNvSpPr/>
          <p:nvPr/>
        </p:nvSpPr>
        <p:spPr>
          <a:xfrm>
            <a:off x="306355" y="5264786"/>
            <a:ext cx="1614196" cy="1156996"/>
          </a:xfrm>
          <a:prstGeom prst="cube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D4EE14EF-6055-9EAC-8CFF-BA57692292B2}"/>
              </a:ext>
            </a:extLst>
          </p:cNvPr>
          <p:cNvSpPr/>
          <p:nvPr/>
        </p:nvSpPr>
        <p:spPr>
          <a:xfrm rot="17151656">
            <a:off x="375492" y="4020956"/>
            <a:ext cx="1376267" cy="76822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827AF9-A59E-B9A2-90FA-E74F22E7F39E}"/>
              </a:ext>
            </a:extLst>
          </p:cNvPr>
          <p:cNvSpPr txBox="1"/>
          <p:nvPr/>
        </p:nvSpPr>
        <p:spPr>
          <a:xfrm>
            <a:off x="4311558" y="3504221"/>
            <a:ext cx="772641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target format is wide, with the dimensions treated as variables (properties): </a:t>
            </a:r>
          </a:p>
          <a:p>
            <a:r>
              <a:rPr lang="en-US" dirty="0"/>
              <a:t>at least one must be a place where integration can be performed with </a:t>
            </a:r>
          </a:p>
          <a:p>
            <a:r>
              <a:rPr lang="en-US" dirty="0"/>
              <a:t>another data set (typically time and geography). Other variables may be </a:t>
            </a:r>
          </a:p>
          <a:p>
            <a:r>
              <a:rPr lang="en-US" dirty="0"/>
              <a:t>combined into compound identifiers, or may be treated as additional </a:t>
            </a:r>
          </a:p>
          <a:p>
            <a:r>
              <a:rPr lang="en-US" dirty="0"/>
              <a:t>descriptors or measures, depending on what they are. The roles of variables</a:t>
            </a:r>
          </a:p>
          <a:p>
            <a:r>
              <a:rPr lang="en-US" dirty="0"/>
              <a:t>Change according to the structures – the meanings/values do not.</a:t>
            </a:r>
          </a:p>
          <a:p>
            <a:endParaRPr lang="en-US" dirty="0"/>
          </a:p>
          <a:p>
            <a:r>
              <a:rPr lang="en-US" dirty="0"/>
              <a:t>Aggregate values would be repeated to align with micro-data records as </a:t>
            </a:r>
          </a:p>
          <a:p>
            <a:r>
              <a:rPr lang="en-US" dirty="0"/>
              <a:t>needed to provide the “complete” records for analysis.</a:t>
            </a:r>
          </a:p>
          <a:p>
            <a:endParaRPr lang="en-US" dirty="0"/>
          </a:p>
          <a:p>
            <a:r>
              <a:rPr lang="en-US" dirty="0"/>
              <a:t>Recoding/semantic transformations are handled separately as appropriate </a:t>
            </a:r>
          </a:p>
          <a:p>
            <a:r>
              <a:rPr lang="en-US" dirty="0"/>
              <a:t>to the structural re-arrangement. </a:t>
            </a:r>
          </a:p>
        </p:txBody>
      </p:sp>
    </p:spTree>
    <p:extLst>
      <p:ext uri="{BB962C8B-B14F-4D97-AF65-F5344CB8AC3E}">
        <p14:creationId xmlns:p14="http://schemas.microsoft.com/office/powerpoint/2010/main" val="299171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7659-27AF-A738-1A25-E027DF9CE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E23B-6431-1B08-B26E-D7401BB29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Candidate release turned over to DDI Technical Committee in May 2023</a:t>
            </a:r>
          </a:p>
          <a:p>
            <a:pPr lvl="1"/>
            <a:r>
              <a:rPr lang="en-US" dirty="0"/>
              <a:t>Download: </a:t>
            </a:r>
            <a:r>
              <a:rPr lang="en-US" b="0" i="0" u="sng" dirty="0">
                <a:solidFill>
                  <a:srgbClr val="196AD4"/>
                </a:solidFill>
                <a:effectLst/>
                <a:latin typeface="Helvetica Neue"/>
                <a:hlinkClick r:id="rId2"/>
              </a:rPr>
              <a:t>https://bitbucket.org/ddi-alliance/ddi-cdi/</a:t>
            </a:r>
            <a:endParaRPr lang="en-US" dirty="0"/>
          </a:p>
          <a:p>
            <a:r>
              <a:rPr lang="en-US" dirty="0"/>
              <a:t>Revised candidate release now being finalized after implementation/testing</a:t>
            </a:r>
          </a:p>
          <a:p>
            <a:pPr lvl="1"/>
            <a:r>
              <a:rPr lang="en-US" dirty="0"/>
              <a:t>Finalize XML schema optimization for generation of syntax representations</a:t>
            </a:r>
          </a:p>
          <a:p>
            <a:pPr lvl="1"/>
            <a:r>
              <a:rPr lang="en-US" dirty="0"/>
              <a:t>Updated examples of XML and RDF syntaxes</a:t>
            </a:r>
          </a:p>
          <a:p>
            <a:r>
              <a:rPr lang="en-US" dirty="0"/>
              <a:t>Focused review of syntax representations</a:t>
            </a:r>
          </a:p>
          <a:p>
            <a:pPr lvl="1"/>
            <a:r>
              <a:rPr lang="en-US" dirty="0"/>
              <a:t>Detailed notes on generation of syntaxes prepared</a:t>
            </a:r>
          </a:p>
          <a:p>
            <a:r>
              <a:rPr lang="en-US" dirty="0"/>
              <a:t>Vote for release as specification</a:t>
            </a:r>
          </a:p>
          <a:p>
            <a:pPr lvl="1"/>
            <a:r>
              <a:rPr lang="en-US" dirty="0"/>
              <a:t>Webinar for DDI community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833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FA30-3F45-E828-A9EC-50E39E3A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Field-Level Documentation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9BC585-5AE0-B77F-04D1-E2CE2265B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02" y="1584895"/>
            <a:ext cx="10300996" cy="499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4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521F-F200-5A2B-E953-6D424B45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Dagstuhl</a:t>
            </a:r>
            <a:r>
              <a:rPr lang="en-US" dirty="0"/>
              <a:t> and Upcoming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4C7C7-3A56-6D7C-1D59-7E0BC068E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Workshop in September 2023 at Schloss </a:t>
            </a:r>
            <a:r>
              <a:rPr lang="en-US" dirty="0" err="1"/>
              <a:t>Dagstuhl</a:t>
            </a:r>
            <a:endParaRPr lang="en-US" dirty="0"/>
          </a:p>
          <a:p>
            <a:r>
              <a:rPr lang="en-US" dirty="0"/>
              <a:t>Groups:</a:t>
            </a:r>
          </a:p>
          <a:p>
            <a:pPr lvl="1"/>
            <a:r>
              <a:rPr lang="en-US" dirty="0"/>
              <a:t>Implementation guides/supporting implementation</a:t>
            </a:r>
          </a:p>
          <a:p>
            <a:pPr lvl="1"/>
            <a:r>
              <a:rPr lang="en-US" dirty="0"/>
              <a:t>Non-numeric, non-coded datums (“qualitative”)</a:t>
            </a:r>
          </a:p>
          <a:p>
            <a:pPr lvl="1"/>
            <a:r>
              <a:rPr lang="en-US" dirty="0"/>
              <a:t>Using DDI-CDI: documentation on what the standard is for and how it can be used by organizations</a:t>
            </a:r>
          </a:p>
          <a:p>
            <a:pPr lvl="1"/>
            <a:r>
              <a:rPr lang="en-US" dirty="0"/>
              <a:t>Dependencies between variables (O-ADOPT, O&amp;M, etc.)</a:t>
            </a:r>
          </a:p>
          <a:p>
            <a:pPr lvl="1"/>
            <a:r>
              <a:rPr lang="en-US" dirty="0"/>
              <a:t>Syntax representations</a:t>
            </a:r>
          </a:p>
          <a:p>
            <a:r>
              <a:rPr lang="en-US" dirty="0"/>
              <a:t>Informal face-to-face at EDDI 2023</a:t>
            </a:r>
          </a:p>
          <a:p>
            <a:r>
              <a:rPr lang="en-US" dirty="0"/>
              <a:t>Face-to-face in Paris, April 2024 (margins of COSMOS)</a:t>
            </a:r>
          </a:p>
          <a:p>
            <a:r>
              <a:rPr lang="en-US" dirty="0" err="1"/>
              <a:t>Dagstuhl</a:t>
            </a:r>
            <a:r>
              <a:rPr lang="en-US" dirty="0"/>
              <a:t> 2024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681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0928-E0DD-3B3C-9245-5B03B57A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for Further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5BA8-747B-E915-943E-EABE50672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713"/>
            <a:ext cx="10515600" cy="487375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Finalize “Using DDI-CDI” documentation (explanatory)</a:t>
            </a:r>
          </a:p>
          <a:p>
            <a:r>
              <a:rPr lang="en-US" dirty="0"/>
              <a:t>Implementation Guides: creating community profiles for use</a:t>
            </a:r>
          </a:p>
          <a:p>
            <a:pPr lvl="1"/>
            <a:r>
              <a:rPr lang="en-US" dirty="0"/>
              <a:t>Subset of model</a:t>
            </a:r>
          </a:p>
          <a:p>
            <a:pPr lvl="1"/>
            <a:r>
              <a:rPr lang="en-US" dirty="0"/>
              <a:t>Syntax representations</a:t>
            </a:r>
          </a:p>
          <a:p>
            <a:pPr lvl="1"/>
            <a:r>
              <a:rPr lang="en-US" dirty="0"/>
              <a:t>Other standards</a:t>
            </a:r>
          </a:p>
          <a:p>
            <a:r>
              <a:rPr lang="en-US" dirty="0"/>
              <a:t>Tools</a:t>
            </a:r>
          </a:p>
          <a:p>
            <a:pPr lvl="1"/>
            <a:r>
              <a:rPr lang="en-US" dirty="0"/>
              <a:t>Improve community subset documentation tool</a:t>
            </a:r>
          </a:p>
          <a:p>
            <a:pPr lvl="1"/>
            <a:r>
              <a:rPr lang="en-US" dirty="0"/>
              <a:t>DDI transformations (DDI-C, DDI-L)</a:t>
            </a:r>
          </a:p>
          <a:p>
            <a:pPr lvl="1"/>
            <a:r>
              <a:rPr lang="en-US" dirty="0"/>
              <a:t>Collaborate with Developer’s Group</a:t>
            </a:r>
          </a:p>
          <a:p>
            <a:r>
              <a:rPr lang="en-US" dirty="0"/>
              <a:t>Non-numeric, non-coded datums (N3CD) – qualitative sub-group?</a:t>
            </a:r>
          </a:p>
          <a:p>
            <a:r>
              <a:rPr lang="en-US" dirty="0"/>
              <a:t>Further syntax representations</a:t>
            </a:r>
          </a:p>
          <a:p>
            <a:r>
              <a:rPr lang="en-US" dirty="0"/>
              <a:t>“Beta” release process to support implementers</a:t>
            </a:r>
          </a:p>
          <a:p>
            <a:pPr lvl="1"/>
            <a:r>
              <a:rPr lang="en-US" dirty="0"/>
              <a:t>Coordinate with TC</a:t>
            </a:r>
          </a:p>
          <a:p>
            <a:r>
              <a:rPr lang="en-US" dirty="0"/>
              <a:t>Refinements to model (Complex Units of Measure, etc.)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39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43AF-E4FE-07C8-2C20-BF509D6D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09C13-CFFB-2D46-9243-8691F2AA7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40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UKDA Data Product Builder</a:t>
            </a:r>
          </a:p>
          <a:p>
            <a:pPr lvl="1"/>
            <a:r>
              <a:rPr lang="en-US" dirty="0"/>
              <a:t>Variables</a:t>
            </a:r>
          </a:p>
          <a:p>
            <a:pPr lvl="1"/>
            <a:r>
              <a:rPr lang="en-US" dirty="0"/>
              <a:t>Wide, long, multi-dimensional data structures</a:t>
            </a:r>
          </a:p>
          <a:p>
            <a:r>
              <a:rPr lang="en-US" dirty="0"/>
              <a:t>EOSC Future Science Project “Climate Neutral and Smart Cities” (</a:t>
            </a:r>
            <a:r>
              <a:rPr lang="en-US" dirty="0" err="1"/>
              <a:t>Sikt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DDI-CDI Process description</a:t>
            </a:r>
          </a:p>
          <a:p>
            <a:pPr lvl="1"/>
            <a:r>
              <a:rPr lang="en-US" dirty="0"/>
              <a:t>Integration with DDI Lifecycle/</a:t>
            </a:r>
            <a:r>
              <a:rPr lang="en-US" dirty="0" err="1"/>
              <a:t>Colectica</a:t>
            </a:r>
            <a:endParaRPr lang="en-US" dirty="0"/>
          </a:p>
          <a:p>
            <a:r>
              <a:rPr lang="en-US" dirty="0"/>
              <a:t>Transformation tools</a:t>
            </a:r>
          </a:p>
          <a:p>
            <a:pPr lvl="1"/>
            <a:r>
              <a:rPr lang="en-US" dirty="0"/>
              <a:t>CSV-to-CDI (JSON-LD) : </a:t>
            </a:r>
            <a:r>
              <a:rPr lang="en-US" dirty="0">
                <a:hlinkClick r:id="rId2"/>
              </a:rPr>
              <a:t>https://ddialliance.github.io/ddi-cdi-sample-generator</a:t>
            </a:r>
            <a:endParaRPr lang="en-US" dirty="0"/>
          </a:p>
          <a:p>
            <a:pPr lvl="1"/>
            <a:r>
              <a:rPr lang="en-US" dirty="0"/>
              <a:t>STATA/SPSS Sample Generator (</a:t>
            </a:r>
            <a:r>
              <a:rPr lang="en-US" dirty="0" err="1"/>
              <a:t>Sikt</a:t>
            </a:r>
            <a:r>
              <a:rPr lang="en-US" dirty="0"/>
              <a:t>): </a:t>
            </a:r>
            <a:r>
              <a:rPr lang="en-US" dirty="0">
                <a:hlinkClick r:id="rId3"/>
              </a:rPr>
              <a:t>https://bbeuster.pythonanywhere.com/</a:t>
            </a:r>
            <a:endParaRPr lang="en-US" dirty="0"/>
          </a:p>
          <a:p>
            <a:pPr lvl="1"/>
            <a:r>
              <a:rPr lang="en-US" dirty="0"/>
              <a:t>Bureau of Labor Statistics</a:t>
            </a:r>
          </a:p>
          <a:p>
            <a:pPr lvl="1"/>
            <a:r>
              <a:rPr lang="en-US" dirty="0"/>
              <a:t>Indicator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037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7977-CBEF-7AB5-EBFA-18A63B5D9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4E465-64DD-2FA8-E886-F045490DB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FAIR Implementation offers new users</a:t>
            </a:r>
          </a:p>
          <a:p>
            <a:pPr lvl="1"/>
            <a:r>
              <a:rPr lang="en-US" dirty="0" err="1"/>
              <a:t>WorldFAIR</a:t>
            </a:r>
            <a:r>
              <a:rPr lang="en-US" dirty="0"/>
              <a:t> “Cross-Domain Interoperability Framework” (CDIF)</a:t>
            </a:r>
          </a:p>
          <a:p>
            <a:pPr lvl="1"/>
            <a:r>
              <a:rPr lang="en-US" dirty="0"/>
              <a:t>Other EOSC Implementations (FAIR Impact, EOSC Interoperability Framework)</a:t>
            </a:r>
          </a:p>
          <a:p>
            <a:r>
              <a:rPr lang="en-US" dirty="0"/>
              <a:t>Cross-domain FAIR implementations within DDI Community</a:t>
            </a:r>
          </a:p>
          <a:p>
            <a:pPr lvl="1"/>
            <a:r>
              <a:rPr lang="en-US" dirty="0"/>
              <a:t>Combined with DDI-C/DDI-L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535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33C0-F6FC-BDBF-EB9F-F1C7645F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Cross-Domain Interoperability Framework (CDIF)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D0C86-56A6-142A-2275-CEE955A61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17563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Guidelines for the coordinated use of a set of cross-domain standards as a “lingua franca” for FAIR data exchange and use</a:t>
            </a:r>
          </a:p>
          <a:p>
            <a:pPr lvl="1"/>
            <a:r>
              <a:rPr lang="en-US" dirty="0"/>
              <a:t>Specific profiles of DDI-CDI for data description</a:t>
            </a:r>
          </a:p>
          <a:p>
            <a:r>
              <a:rPr lang="en-US" dirty="0"/>
              <a:t>CDIF has gathered 30 experts from different standards communities</a:t>
            </a:r>
          </a:p>
          <a:p>
            <a:pPr lvl="1"/>
            <a:r>
              <a:rPr lang="en-US" dirty="0"/>
              <a:t>Working Group: Meets bi-weekly to draft CDIF recommendations</a:t>
            </a:r>
          </a:p>
          <a:p>
            <a:pPr lvl="1"/>
            <a:r>
              <a:rPr lang="en-US" dirty="0"/>
              <a:t>Advisory Group: Reviews drafts and identifies direction/advises</a:t>
            </a:r>
          </a:p>
          <a:p>
            <a:r>
              <a:rPr lang="en-US" dirty="0"/>
              <a:t>Major inputs:</a:t>
            </a:r>
          </a:p>
          <a:p>
            <a:pPr lvl="1"/>
            <a:r>
              <a:rPr lang="en-US" dirty="0" err="1"/>
              <a:t>WorldFAIR</a:t>
            </a:r>
            <a:r>
              <a:rPr lang="en-US" dirty="0"/>
              <a:t> FAIR Implementation Profiles and 11 Domain Use Cases, from social science to bio-diversity to nano-technology to geo-chemistry…</a:t>
            </a:r>
          </a:p>
          <a:p>
            <a:pPr lvl="1"/>
            <a:r>
              <a:rPr lang="en-US" dirty="0"/>
              <a:t>FAIR domain and cross-domain metadata standards</a:t>
            </a:r>
          </a:p>
          <a:p>
            <a:pPr lvl="1"/>
            <a:r>
              <a:rPr lang="en-US" dirty="0"/>
              <a:t>FAIR initiatives (EOSC IF, FAIR Impact, EOSC Future, GO FAIR, DRUM, etc.)</a:t>
            </a:r>
          </a:p>
          <a:p>
            <a:r>
              <a:rPr lang="en-US" dirty="0"/>
              <a:t>Initial draft of CDIF to be delivered as part of </a:t>
            </a:r>
            <a:r>
              <a:rPr lang="en-US" dirty="0" err="1"/>
              <a:t>WorldFAIR</a:t>
            </a:r>
            <a:r>
              <a:rPr lang="en-US" dirty="0"/>
              <a:t> outputs in Summer 2024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504B66-E723-7421-6A48-C26A16AE4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434" y="2220685"/>
            <a:ext cx="2831301" cy="212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330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C4A3C-480C-397D-484C-649FC7999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0573"/>
          </a:xfrm>
        </p:spPr>
        <p:txBody>
          <a:bodyPr>
            <a:normAutofit fontScale="90000"/>
          </a:bodyPr>
          <a:lstStyle/>
          <a:p>
            <a:r>
              <a:rPr lang="en-US" dirty="0"/>
              <a:t>FAIR Activities and Standards: CDIF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E86818-A06F-51CF-A37E-14C3EC84B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971"/>
            <a:ext cx="10515600" cy="52519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Foundational: FAIR Digital Object Framework (</a:t>
            </a:r>
            <a:r>
              <a:rPr lang="en-US" b="1" dirty="0"/>
              <a:t>FDOF</a:t>
            </a:r>
            <a:r>
              <a:rPr lang="en-US" dirty="0"/>
              <a:t>)</a:t>
            </a:r>
          </a:p>
          <a:p>
            <a:r>
              <a:rPr lang="en-US" dirty="0"/>
              <a:t>Find</a:t>
            </a:r>
          </a:p>
          <a:p>
            <a:pPr lvl="1"/>
            <a:r>
              <a:rPr lang="en-US" dirty="0"/>
              <a:t>Discover FAIR resources and explore/evaluate their utility prior to access (coverage, etc.)</a:t>
            </a:r>
          </a:p>
          <a:p>
            <a:pPr lvl="1"/>
            <a:r>
              <a:rPr lang="en-US" b="1" dirty="0"/>
              <a:t>Schema.org, DCAT. DDI-CDI (variables)</a:t>
            </a:r>
          </a:p>
          <a:p>
            <a:r>
              <a:rPr lang="en-US" dirty="0"/>
              <a:t>Access</a:t>
            </a:r>
          </a:p>
          <a:p>
            <a:pPr lvl="1"/>
            <a:r>
              <a:rPr lang="en-US" dirty="0"/>
              <a:t>Negotiate access to non-public data </a:t>
            </a:r>
          </a:p>
          <a:p>
            <a:pPr lvl="1"/>
            <a:r>
              <a:rPr lang="en-US" dirty="0"/>
              <a:t>Enhance efficiencies through automation</a:t>
            </a:r>
          </a:p>
          <a:p>
            <a:pPr lvl="1"/>
            <a:r>
              <a:rPr lang="en-US" b="1" dirty="0"/>
              <a:t>ODRL, DPV</a:t>
            </a:r>
          </a:p>
          <a:p>
            <a:r>
              <a:rPr lang="en-US" dirty="0"/>
              <a:t>Assess/Integrate</a:t>
            </a:r>
          </a:p>
          <a:p>
            <a:pPr lvl="1"/>
            <a:r>
              <a:rPr lang="en-US" dirty="0"/>
              <a:t>Understand data structure (</a:t>
            </a:r>
            <a:r>
              <a:rPr lang="en-US" b="1" dirty="0"/>
              <a:t>DDI-CDI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Understand semantics (</a:t>
            </a:r>
            <a:r>
              <a:rPr lang="en-US" b="1" dirty="0"/>
              <a:t>SKOS/XKOS, OWL, SSSOM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Determine origination/context (</a:t>
            </a:r>
            <a:r>
              <a:rPr lang="en-US" b="1" dirty="0"/>
              <a:t>PROV-O</a:t>
            </a:r>
            <a:r>
              <a:rPr lang="en-US" dirty="0"/>
              <a:t>, </a:t>
            </a:r>
            <a:r>
              <a:rPr lang="en-US" b="1" dirty="0"/>
              <a:t>I-ADOPT/O&amp;M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49231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3277-9505-77D4-9D7B-450E77EBE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3BC2C-0C49-6983-1E29-909CAFD62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DDI-CDI extends existing DDI specifications to use different types of data from other domains</a:t>
            </a:r>
          </a:p>
          <a:p>
            <a:r>
              <a:rPr lang="en-US" dirty="0"/>
              <a:t>It is a vehicle for cross-domain FAIR implementation</a:t>
            </a:r>
          </a:p>
          <a:p>
            <a:r>
              <a:rPr lang="en-US" dirty="0"/>
              <a:t>Version 1.0 in coming months</a:t>
            </a:r>
          </a:p>
          <a:p>
            <a:pPr lvl="1"/>
            <a:r>
              <a:rPr lang="en-US" dirty="0"/>
              <a:t>Well-documented</a:t>
            </a:r>
          </a:p>
          <a:p>
            <a:pPr lvl="1"/>
            <a:r>
              <a:rPr lang="en-US" dirty="0"/>
              <a:t>Well-tested</a:t>
            </a:r>
          </a:p>
          <a:p>
            <a:pPr lvl="1"/>
            <a:r>
              <a:rPr lang="en-US" dirty="0"/>
              <a:t>Builds on existing specifications/processes</a:t>
            </a:r>
          </a:p>
          <a:p>
            <a:r>
              <a:rPr lang="en-US" dirty="0"/>
              <a:t>Helps bring DDI products in line with current technologies and modular standards approaches</a:t>
            </a:r>
          </a:p>
        </p:txBody>
      </p:sp>
    </p:spTree>
    <p:extLst>
      <p:ext uri="{BB962C8B-B14F-4D97-AF65-F5344CB8AC3E}">
        <p14:creationId xmlns:p14="http://schemas.microsoft.com/office/powerpoint/2010/main" val="3557597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D8C2-8495-5D8B-8A20-CEDCE671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46D75-6D8A-2E6E-34D9-11C219FFA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24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1125</Words>
  <Application>Microsoft Office PowerPoint</Application>
  <PresentationFormat>Widescreen</PresentationFormat>
  <Paragraphs>196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Helvetica Neue</vt:lpstr>
      <vt:lpstr>Office Theme</vt:lpstr>
      <vt:lpstr>DDI-Cross-Domain Integration (DDI-CDI): Current Status and Further Developments</vt:lpstr>
      <vt:lpstr>Outline</vt:lpstr>
      <vt:lpstr>Overview of DDI-CDI</vt:lpstr>
      <vt:lpstr>What Does It Do?</vt:lpstr>
      <vt:lpstr>PowerPoint Presentation</vt:lpstr>
      <vt:lpstr>PowerPoint Presentation</vt:lpstr>
      <vt:lpstr>PowerPoint Presentation</vt:lpstr>
      <vt:lpstr>Status</vt:lpstr>
      <vt:lpstr>Integrated Field-Level Documentation</vt:lpstr>
      <vt:lpstr>Dagstuhl and Upcoming Events</vt:lpstr>
      <vt:lpstr>Topics for Further Work</vt:lpstr>
      <vt:lpstr>Prototypes</vt:lpstr>
      <vt:lpstr>Prospects</vt:lpstr>
      <vt:lpstr>Cross-Domain Interoperability Framework (CDIF)</vt:lpstr>
      <vt:lpstr>FAIR Activities and Standards: CDIF</vt:lpstr>
      <vt:lpstr>Summary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DDI-CDI: Current Status and Further Developments</dc:title>
  <dc:creator>Arofan Gregory</dc:creator>
  <cp:lastModifiedBy>Wenzig, Knut</cp:lastModifiedBy>
  <cp:revision>27</cp:revision>
  <dcterms:created xsi:type="dcterms:W3CDTF">2023-11-29T09:35:57Z</dcterms:created>
  <dcterms:modified xsi:type="dcterms:W3CDTF">2024-10-09T15:31:57Z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2024-10-09T15:31:57Z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89e77033-8876-4ceb-8259-983014a016a2</vt:lpwstr>
  </property>
  <property fmtid="{D5CDD505-2E9C-101B-9397-08002B2CF9AE}" pid="7" name="MSIP_Label_defa4170-0d19-0005-0004-bc88714345d2_ActionId">
    <vt:lpwstr>2c965dc7-5e17-4bbe-a063-2091d686ddaa</vt:lpwstr>
  </property>
  <property fmtid="{D5CDD505-2E9C-101B-9397-08002B2CF9AE}" pid="8" name="MSIP_Label_defa4170-0d19-0005-0004-bc88714345d2_ContentBits">
    <vt:lpwstr>0</vt:lpwstr>
  </property>
</Properties>
</file>