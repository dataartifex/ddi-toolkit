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621" r:id="rId3"/>
    <p:sldId id="259" r:id="rId4"/>
    <p:sldId id="647" r:id="rId5"/>
    <p:sldId id="657" r:id="rId6"/>
    <p:sldId id="272" r:id="rId7"/>
    <p:sldId id="620" r:id="rId8"/>
    <p:sldId id="273" r:id="rId9"/>
    <p:sldId id="274" r:id="rId10"/>
    <p:sldId id="275" r:id="rId11"/>
    <p:sldId id="646" r:id="rId12"/>
    <p:sldId id="653" r:id="rId13"/>
    <p:sldId id="655" r:id="rId14"/>
    <p:sldId id="656" r:id="rId15"/>
    <p:sldId id="654" r:id="rId16"/>
    <p:sldId id="648" r:id="rId17"/>
    <p:sldId id="257" r:id="rId18"/>
    <p:sldId id="649" r:id="rId19"/>
    <p:sldId id="258" r:id="rId20"/>
    <p:sldId id="650" r:id="rId21"/>
    <p:sldId id="651" r:id="rId22"/>
    <p:sldId id="264" r:id="rId23"/>
    <p:sldId id="260" r:id="rId24"/>
    <p:sldId id="265" r:id="rId25"/>
    <p:sldId id="261" r:id="rId26"/>
    <p:sldId id="266" r:id="rId27"/>
    <p:sldId id="262" r:id="rId28"/>
    <p:sldId id="652" r:id="rId29"/>
    <p:sldId id="263" r:id="rId30"/>
    <p:sldId id="624" r:id="rId31"/>
    <p:sldId id="65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09103-F1CC-4F5A-9C5F-6A4C5FB25FD0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2F5A2-093D-44C0-ADB2-7332E6DF8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9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1D656-562F-4672-9768-3C654A67C61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6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4AAB-C59E-831E-062D-DD6FE9E78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5F8DE-DCDD-146F-6CB6-66B0EF118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96D18-0FC8-B863-B5F4-DB01ED20F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97A2B-CD64-1F64-D9F2-BEB898D4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3ABAD-BB5F-E773-84AA-89B2638B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1DBE-8B27-9F1E-A418-A1E4618D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1330-678C-0FD3-9FAD-9829EBBD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9C596-4109-F2D6-43E7-D5120CD94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CCF8D-8909-E9ED-A6FE-18815B237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C7FE1-667E-45A0-9C4C-63A49F60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4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6A8A-CFC8-37D5-DF9F-EC70BB59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8DB43-9298-211F-566A-5CBF49F19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0755E-C481-9B31-DC58-1DFC03B4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02AC4-DD1D-07AA-EAB7-B6D20B3B9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E6F0A-1475-FB8A-50F5-1CEA91E1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77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215D-35F6-EAC0-D89D-A5CD6550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77B63-4BCE-29B5-CA77-D5980AA75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8B666-27D0-F012-D201-1412FB150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7AF0E-CCAD-F48A-3D50-D279FF6AC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8B88F-804D-3267-0E95-A0D983BD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98B45-30AB-1D74-8470-4A86E2ED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3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3EA0-897D-B675-0806-6C31DC4B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1FC31-7346-AE7E-1492-55963E62F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E3532-669B-6D7C-5F49-DF8F5BBE0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ED1DD-DC02-D572-B155-39A6F89A0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CBF45-B725-129F-0F64-14DFBEE435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C26CC-97C2-E0C7-8EEF-1AB3F2F4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AD60F-F387-03A8-C48E-F86EE7D4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B7E8E-4C5E-9D02-504C-645C8C10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81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38F-3ED6-C2D9-C853-EBC75EC8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F9CD4-9BA6-4C66-20BF-E3272012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15853-7473-586F-0348-A12DC20D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244FA-77E1-5D22-D4F1-8814E612F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5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BB94DB-992B-CE7C-08D5-273B5CDC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FFD61-D212-0D5A-12D7-C5B7786C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8779C-9315-B8CA-4171-694BAC12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3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095A-F3A7-0118-CB17-6D76DCF8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7E390-6B5B-83D4-8D90-48E560A14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5D986-BFC3-12D3-E5E9-B1827D1C0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80411-468D-02D7-DF32-E6340695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9BD41-AC09-A887-3B47-2CB80018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D9E6F-0684-3153-64F2-AF883854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6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28F5-B131-F35B-1406-22BB4E62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BF4112-D2E7-109B-11BE-E28FB1908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B7A0A-1183-F375-1CB7-A7E27163E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345AC-FDA0-E73C-BE37-9E2F365E7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5C276-B9BF-58DC-FCF9-09414D40D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9B9F2-FB73-0068-F1EC-98285E6E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3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A5EF-06DD-B7AA-8B1B-05DB4505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B1E7B-57A1-FE84-459A-CB8A944B8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236C3-D0F5-C239-9C2E-43FFEFBE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B4CE6-F375-F82F-6382-3F517384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76EE8-AB8D-D313-CC9F-E358E4BE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BC949-5CF5-4E9D-D82B-1CAA4478D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40F8D-47AA-7D55-5006-80BC7062F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95D04-5877-5D8D-02C1-DBFEB9F8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3B431-CB47-41D4-6737-0E2631D1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BFDD-8547-9B6C-1041-5EAD52F1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7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94BD9-3253-BBF6-CEC9-CCEBE79E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E4605-2C8E-4837-6594-0562EB299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09193-E1FE-7EC3-BA76-6751D29CD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7CF5C-1894-4725-94BE-18E323D9DC4D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F14EC-1A7B-2B39-A376-89474C3EA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85F16-FEE1-7FAE-0F35-223B03CEE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E146B-E87B-472B-A4B9-0D59EE842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5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di-cdi/ddi-cdi/archive/refs/tags/v1.0-rc3.zip" TargetMode="External"/><Relationship Id="rId2" Type="http://schemas.openxmlformats.org/officeDocument/2006/relationships/hyperlink" Target="https://github.com/ddi-cdi/ddi-cdi/blob/main/build/high-level-documentation/DDI-CDI_Model_Specification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di-cdi.github.io/ddi-cdi_v1.0-rc3/field-level-documentation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ddialliance.github.io/ddi-cdi-sample-generato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9982-C10B-618B-8020-140C4638D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DDI-CDI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0B3EE-6AC9-3D15-8846-4A5CCAE800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EDDI, December 2024</a:t>
            </a:r>
          </a:p>
          <a:p>
            <a:r>
              <a:rPr lang="en-US" dirty="0"/>
              <a:t>Arofan Gregory</a:t>
            </a:r>
          </a:p>
          <a:p>
            <a:r>
              <a:rPr lang="en-US" dirty="0"/>
              <a:t>Chair, DDI-CDI WG</a:t>
            </a:r>
          </a:p>
        </p:txBody>
      </p:sp>
      <p:pic>
        <p:nvPicPr>
          <p:cNvPr id="5" name="Picture 4" descr="CC-BY Badge">
            <a:extLst>
              <a:ext uri="{FF2B5EF4-FFF2-40B4-BE49-F238E27FC236}">
                <a16:creationId xmlns:a16="http://schemas.microsoft.com/office/drawing/2014/main" id="{7BD4BA10-F633-743C-1B43-E74573FCF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8220" y="6228190"/>
            <a:ext cx="1227411" cy="42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00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0A58-D6F8-44B5-9F6C-A0998DE2F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DDI Specification!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27FA4-36C9-4D45-809C-775F8947D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DDI-CDI is a new specification</a:t>
            </a:r>
          </a:p>
          <a:p>
            <a:pPr lvl="1"/>
            <a:r>
              <a:rPr lang="en-US" dirty="0"/>
              <a:t>Vote just completed – 1.0 specification approved</a:t>
            </a:r>
          </a:p>
          <a:p>
            <a:pPr lvl="1"/>
            <a:r>
              <a:rPr lang="en-US" dirty="0"/>
              <a:t>Now in publication process – not yet officially released</a:t>
            </a:r>
          </a:p>
          <a:p>
            <a:r>
              <a:rPr lang="en-US" dirty="0"/>
              <a:t>DDI-CDI is an implementation of the “DDI 4”/”DDI Moving Forward” model</a:t>
            </a:r>
          </a:p>
          <a:p>
            <a:pPr lvl="1"/>
            <a:r>
              <a:rPr lang="en-US" dirty="0"/>
              <a:t>Specific focus on cross-domain data integration</a:t>
            </a:r>
          </a:p>
          <a:p>
            <a:pPr lvl="1"/>
            <a:r>
              <a:rPr lang="en-US" dirty="0"/>
              <a:t>Model-based standard – Canonical XMI describes UML model</a:t>
            </a:r>
          </a:p>
          <a:p>
            <a:pPr lvl="1"/>
            <a:r>
              <a:rPr lang="en-US" dirty="0"/>
              <a:t>XML and other syntax representations supported (JSON-LD and Turtle)</a:t>
            </a:r>
          </a:p>
          <a:p>
            <a:pPr lvl="1"/>
            <a:r>
              <a:rPr lang="en-US" dirty="0"/>
              <a:t>Designed to be machine-actionable</a:t>
            </a:r>
          </a:p>
          <a:p>
            <a:r>
              <a:rPr lang="en-US" dirty="0"/>
              <a:t>Complementary to other DDI specifications</a:t>
            </a:r>
          </a:p>
          <a:p>
            <a:pPr lvl="1"/>
            <a:r>
              <a:rPr lang="en-US" dirty="0"/>
              <a:t>Works with DDI Codebook and DDI Lifecycle</a:t>
            </a:r>
          </a:p>
          <a:p>
            <a:pPr lvl="1"/>
            <a:r>
              <a:rPr lang="en-US" dirty="0"/>
              <a:t>Extends metadata coverage to support integration with other domain data</a:t>
            </a:r>
          </a:p>
          <a:p>
            <a:pPr lvl="1"/>
            <a:r>
              <a:rPr lang="en-US" dirty="0"/>
              <a:t>Can work directly with other (non-DDI) domain metadata specifications (esp. RDF)</a:t>
            </a:r>
          </a:p>
          <a:p>
            <a:r>
              <a:rPr lang="en-US" dirty="0"/>
              <a:t>Designed to be implemented using subsets (“profiles”)</a:t>
            </a:r>
          </a:p>
        </p:txBody>
      </p:sp>
    </p:spTree>
    <p:extLst>
      <p:ext uri="{BB962C8B-B14F-4D97-AF65-F5344CB8AC3E}">
        <p14:creationId xmlns:p14="http://schemas.microsoft.com/office/powerpoint/2010/main" val="294229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C978-1A7F-4C65-9AA1-0D394F32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DDI-CDI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F3F68-D32B-48D9-A3BF-A7F3A653B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Structural description across diverse sources/types of data</a:t>
            </a:r>
          </a:p>
          <a:p>
            <a:pPr lvl="1"/>
            <a:r>
              <a:rPr lang="en-US" dirty="0"/>
              <a:t>Wide (rectangular) data</a:t>
            </a:r>
          </a:p>
          <a:p>
            <a:pPr lvl="1"/>
            <a:r>
              <a:rPr lang="en-US" dirty="0"/>
              <a:t>Tall (long), event data, sensors</a:t>
            </a:r>
          </a:p>
          <a:p>
            <a:pPr lvl="1"/>
            <a:r>
              <a:rPr lang="en-US" dirty="0"/>
              <a:t>Key-vale data (big data, No SQL data)</a:t>
            </a:r>
          </a:p>
          <a:p>
            <a:pPr lvl="1"/>
            <a:r>
              <a:rPr lang="en-US" dirty="0"/>
              <a:t>Multi-dimensional data cubes, indicators, time series</a:t>
            </a:r>
          </a:p>
          <a:p>
            <a:r>
              <a:rPr lang="en-US" dirty="0"/>
              <a:t>Describes provenance of data between different structures/forms</a:t>
            </a:r>
          </a:p>
          <a:p>
            <a:pPr lvl="1"/>
            <a:r>
              <a:rPr lang="en-US" dirty="0"/>
              <a:t>Processing framework</a:t>
            </a:r>
          </a:p>
          <a:p>
            <a:pPr lvl="1"/>
            <a:r>
              <a:rPr lang="en-US" dirty="0"/>
              <a:t>Relies on other standards (PROV-O, SDTL, etc.)</a:t>
            </a:r>
          </a:p>
          <a:p>
            <a:r>
              <a:rPr lang="en-US" dirty="0"/>
              <a:t>Describes data at an atomic level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Datums/cells</a:t>
            </a:r>
          </a:p>
        </p:txBody>
      </p:sp>
    </p:spTree>
    <p:extLst>
      <p:ext uri="{BB962C8B-B14F-4D97-AF65-F5344CB8AC3E}">
        <p14:creationId xmlns:p14="http://schemas.microsoft.com/office/powerpoint/2010/main" val="152507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3648F7-AF5A-4391-B4B1-6911589A3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17" y="938333"/>
            <a:ext cx="9838566" cy="553956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22E30CE-0EB6-4556-85F6-387F650C4E06}"/>
              </a:ext>
            </a:extLst>
          </p:cNvPr>
          <p:cNvSpPr txBox="1">
            <a:spLocks/>
          </p:cNvSpPr>
          <p:nvPr/>
        </p:nvSpPr>
        <p:spPr>
          <a:xfrm>
            <a:off x="838200" y="385503"/>
            <a:ext cx="10515600" cy="56878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u="none" kern="1200">
                <a:solidFill>
                  <a:schemeClr val="tx1"/>
                </a:solidFill>
                <a:latin typeface="Arial MT Std" panose="020B0402020200020204" pitchFamily="34" charset="0"/>
                <a:ea typeface="+mj-ea"/>
                <a:cs typeface="+mj-cs"/>
              </a:defRPr>
            </a:lvl1pPr>
          </a:lstStyle>
          <a:p>
            <a:r>
              <a:rPr lang="en-CA" sz="26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</a:rPr>
              <a:t>DDI-CDI at-a-glance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F2FF10-9A4D-4F68-8DB1-B894458E9430}"/>
              </a:ext>
            </a:extLst>
          </p:cNvPr>
          <p:cNvSpPr/>
          <p:nvPr/>
        </p:nvSpPr>
        <p:spPr>
          <a:xfrm>
            <a:off x="1796902" y="2897371"/>
            <a:ext cx="2966484" cy="3418367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Organization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809B6E-0477-4679-9B21-383AFA36F167}"/>
              </a:ext>
            </a:extLst>
          </p:cNvPr>
          <p:cNvSpPr/>
          <p:nvPr/>
        </p:nvSpPr>
        <p:spPr>
          <a:xfrm>
            <a:off x="7428616" y="2895600"/>
            <a:ext cx="3329763" cy="3418367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Concepts &amp; Representations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9B5F12-21C5-4D62-BC87-19A7D1926AA6}"/>
              </a:ext>
            </a:extLst>
          </p:cNvPr>
          <p:cNvSpPr/>
          <p:nvPr/>
        </p:nvSpPr>
        <p:spPr>
          <a:xfrm>
            <a:off x="2684721" y="1105786"/>
            <a:ext cx="6948377" cy="1789814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Description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E3EF60-39C2-443E-B2BE-0D8D246BB30A}"/>
              </a:ext>
            </a:extLst>
          </p:cNvPr>
          <p:cNvSpPr/>
          <p:nvPr/>
        </p:nvSpPr>
        <p:spPr>
          <a:xfrm>
            <a:off x="5101903" y="2906254"/>
            <a:ext cx="2020238" cy="340771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dirty="0">
                <a:solidFill>
                  <a:srgbClr val="C00000"/>
                </a:solidFill>
              </a:rPr>
              <a:t>Variable Cascade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A2F57-0514-02E0-FAD9-7C43C17667FC}"/>
              </a:ext>
            </a:extLst>
          </p:cNvPr>
          <p:cNvSpPr txBox="1"/>
          <p:nvPr/>
        </p:nvSpPr>
        <p:spPr>
          <a:xfrm>
            <a:off x="6261448" y="6488668"/>
            <a:ext cx="541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 of the amazing Flavio </a:t>
            </a:r>
            <a:r>
              <a:rPr lang="en-US" dirty="0" err="1"/>
              <a:t>Rizzolo</a:t>
            </a:r>
            <a:r>
              <a:rPr lang="en-US" dirty="0"/>
              <a:t>, Statistics Canada</a:t>
            </a:r>
          </a:p>
        </p:txBody>
      </p:sp>
    </p:spTree>
    <p:extLst>
      <p:ext uri="{BB962C8B-B14F-4D97-AF65-F5344CB8AC3E}">
        <p14:creationId xmlns:p14="http://schemas.microsoft.com/office/powerpoint/2010/main" val="209081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D1B4-BBDA-DA47-15CE-C030627D8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and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FAB8-2EE0-4FBA-FB36-C5357AC5A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specification: </a:t>
            </a:r>
            <a:r>
              <a:rPr lang="en-US" dirty="0">
                <a:hlinkClick r:id="rId2"/>
              </a:rPr>
              <a:t>https://github.com/ddi-cdi/ddi-cdi/blob/main/build/high-level-documentation/DDI-CDI_Model_Specification.pdf</a:t>
            </a:r>
            <a:endParaRPr lang="en-US" dirty="0"/>
          </a:p>
          <a:p>
            <a:r>
              <a:rPr lang="en-US" dirty="0"/>
              <a:t>Full specification download: </a:t>
            </a:r>
            <a:r>
              <a:rPr lang="en-US" b="0" i="0" u="sng" dirty="0">
                <a:effectLst/>
                <a:latin typeface="-apple-system"/>
                <a:hlinkClick r:id="rId3"/>
              </a:rPr>
              <a:t>https://github.com/ddi-cdi/ddi-cdi/archive/refs/tags/v1.0-rc3.zip</a:t>
            </a:r>
            <a:endParaRPr lang="en-US" dirty="0"/>
          </a:p>
          <a:p>
            <a:r>
              <a:rPr lang="en-US" dirty="0"/>
              <a:t>Field-level documentation: </a:t>
            </a:r>
            <a:r>
              <a:rPr lang="en-US" dirty="0">
                <a:hlinkClick r:id="rId4"/>
              </a:rPr>
              <a:t>https://ddi-cdi.github.io/ddi-cdi_v1.0-rc3/field-level-documentation/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34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22FB-202D-A51C-31AA-D1D9F8F1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Purpose?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3D0A-5E5E-4A8C-6B22-D0BDCF49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enable data disseminators to describe the data they provide in a way that makes it comprehensible to those from other domains</a:t>
            </a:r>
          </a:p>
          <a:p>
            <a:r>
              <a:rPr lang="en-US" dirty="0"/>
              <a:t>This often requires a re-structuring of the data to agree with a target data set to be integrated with</a:t>
            </a:r>
          </a:p>
          <a:p>
            <a:pPr lvl="1"/>
            <a:r>
              <a:rPr lang="en-US" dirty="0"/>
              <a:t>E.g., using existing environmental data from a domain-external source (EEA air quality) to provide a context for domain data (the European Social Survey)</a:t>
            </a:r>
          </a:p>
          <a:p>
            <a:pPr lvl="1"/>
            <a:r>
              <a:rPr lang="en-US" dirty="0"/>
              <a:t>Sensor data is re-structured to be integrated with survey data (it is also processed to create temporal and geographical alignments, but this is in additional to needed structural transformations)</a:t>
            </a:r>
          </a:p>
          <a:p>
            <a:r>
              <a:rPr lang="en-US" dirty="0"/>
              <a:t>DDI-CDI allows “data sets” to be processed </a:t>
            </a:r>
            <a:r>
              <a:rPr lang="en-US" i="1" dirty="0"/>
              <a:t>as if</a:t>
            </a:r>
            <a:r>
              <a:rPr lang="en-US" dirty="0"/>
              <a:t> they were a pool of atomic pieces to be re-combined</a:t>
            </a:r>
          </a:p>
          <a:p>
            <a:pPr lvl="1"/>
            <a:r>
              <a:rPr lang="en-US" dirty="0"/>
              <a:t>The provider does not need to atomize their data</a:t>
            </a:r>
          </a:p>
          <a:p>
            <a:pPr lvl="1"/>
            <a:r>
              <a:rPr lang="en-US" dirty="0"/>
              <a:t>The receiver can still perform re-combination</a:t>
            </a:r>
          </a:p>
          <a:p>
            <a:r>
              <a:rPr lang="en-US" dirty="0"/>
              <a:t>Bridges the gap between data structures and logical/conceptual content</a:t>
            </a:r>
          </a:p>
        </p:txBody>
      </p:sp>
    </p:spTree>
    <p:extLst>
      <p:ext uri="{BB962C8B-B14F-4D97-AF65-F5344CB8AC3E}">
        <p14:creationId xmlns:p14="http://schemas.microsoft.com/office/powerpoint/2010/main" val="414582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A534-19D3-C5A4-926E-A8320D3F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7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Summarizing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349FE-6924-9D39-AEEA-17CF96F34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4884"/>
            <a:ext cx="10515600" cy="584311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Data providers cannot anticipate all of the capabilities and requirements of data users</a:t>
            </a:r>
          </a:p>
          <a:p>
            <a:r>
              <a:rPr lang="en-US" dirty="0"/>
              <a:t>Data providers understand (and can describe) their data as </a:t>
            </a:r>
            <a:r>
              <a:rPr lang="en-US" i="1" dirty="0"/>
              <a:t>they</a:t>
            </a:r>
            <a:r>
              <a:rPr lang="en-US" dirty="0"/>
              <a:t> understand it</a:t>
            </a:r>
          </a:p>
          <a:p>
            <a:r>
              <a:rPr lang="en-US" dirty="0"/>
              <a:t>The provided data structures contain </a:t>
            </a:r>
            <a:r>
              <a:rPr lang="en-US" i="1" dirty="0"/>
              <a:t>implicit</a:t>
            </a:r>
            <a:r>
              <a:rPr lang="en-US" dirty="0"/>
              <a:t> information about the values which comprise them</a:t>
            </a:r>
          </a:p>
          <a:p>
            <a:pPr lvl="1"/>
            <a:r>
              <a:rPr lang="en-US" dirty="0"/>
              <a:t>Data users may not understand this implicit knowledge</a:t>
            </a:r>
          </a:p>
          <a:p>
            <a:r>
              <a:rPr lang="en-US" dirty="0"/>
              <a:t>DDI-CDI makes this information understandable across structures by giving a standard model of how this implicit structural information is expressed across structural types</a:t>
            </a:r>
          </a:p>
          <a:p>
            <a:r>
              <a:rPr lang="en-US" dirty="0"/>
              <a:t>The provider describes what they understand – the user can derive what they need from this description</a:t>
            </a:r>
          </a:p>
          <a:p>
            <a:r>
              <a:rPr lang="en-US" dirty="0"/>
              <a:t>Requires that there be a strong focus on </a:t>
            </a:r>
            <a:r>
              <a:rPr lang="en-US" i="1" dirty="0"/>
              <a:t>variables </a:t>
            </a:r>
            <a:r>
              <a:rPr lang="en-US" dirty="0"/>
              <a:t>and </a:t>
            </a:r>
            <a:r>
              <a:rPr lang="en-US" i="1" dirty="0"/>
              <a:t>datums</a:t>
            </a:r>
          </a:p>
          <a:p>
            <a:r>
              <a:rPr lang="en-US" i="1" dirty="0"/>
              <a:t>NOTE: </a:t>
            </a:r>
            <a:r>
              <a:rPr lang="en-US" dirty="0"/>
              <a:t>RDF descriptions of individual datums can be used to perform this re-combining function, but fail the “practicality” test:</a:t>
            </a:r>
          </a:p>
          <a:p>
            <a:pPr lvl="1"/>
            <a:r>
              <a:rPr lang="en-US" dirty="0"/>
              <a:t>It is difficult to manage vast pools of individual observations</a:t>
            </a:r>
          </a:p>
          <a:p>
            <a:pPr lvl="1"/>
            <a:r>
              <a:rPr lang="en-US" dirty="0"/>
              <a:t>The “bibliographic” culture of data dissemination discourages this level of data management: everyone understands “data sets”</a:t>
            </a:r>
            <a:r>
              <a:rPr lang="en-US" i="1" dirty="0"/>
              <a:t> 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014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7EDE3CD8-BB9E-F8C4-B543-48480104749E}"/>
              </a:ext>
            </a:extLst>
          </p:cNvPr>
          <p:cNvSpPr/>
          <p:nvPr/>
        </p:nvSpPr>
        <p:spPr>
          <a:xfrm>
            <a:off x="718457" y="3872204"/>
            <a:ext cx="1614196" cy="1156996"/>
          </a:xfrm>
          <a:prstGeom prst="cub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215C8-D8BE-55C2-AC97-063FD033E7FA}"/>
              </a:ext>
            </a:extLst>
          </p:cNvPr>
          <p:cNvSpPr txBox="1"/>
          <p:nvPr/>
        </p:nvSpPr>
        <p:spPr>
          <a:xfrm>
            <a:off x="541476" y="5048865"/>
            <a:ext cx="4274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Dimensional Data Set:</a:t>
            </a:r>
          </a:p>
          <a:p>
            <a:r>
              <a:rPr lang="en-US" b="1" dirty="0"/>
              <a:t>Age x Year x Region x Education Level x Sex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214587-E7D9-1A67-E5F9-E863603CE297}"/>
              </a:ext>
            </a:extLst>
          </p:cNvPr>
          <p:cNvSpPr/>
          <p:nvPr/>
        </p:nvSpPr>
        <p:spPr>
          <a:xfrm>
            <a:off x="806245" y="1435510"/>
            <a:ext cx="1307690" cy="1156996"/>
          </a:xfrm>
          <a:prstGeom prst="folded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AF9E7-C9C0-CA8E-07D2-5A9638FC045E}"/>
              </a:ext>
            </a:extLst>
          </p:cNvPr>
          <p:cNvSpPr txBox="1"/>
          <p:nvPr/>
        </p:nvSpPr>
        <p:spPr>
          <a:xfrm>
            <a:off x="831264" y="1533832"/>
            <a:ext cx="127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DDI-CDI </a:t>
            </a:r>
          </a:p>
          <a:p>
            <a:r>
              <a:rPr lang="en-US" b="1" dirty="0"/>
              <a:t>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6DF79-AEF9-EAC8-056C-7B0E9FD58F79}"/>
              </a:ext>
            </a:extLst>
          </p:cNvPr>
          <p:cNvSpPr txBox="1"/>
          <p:nvPr/>
        </p:nvSpPr>
        <p:spPr>
          <a:xfrm>
            <a:off x="578566" y="2671875"/>
            <a:ext cx="31232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Variables</a:t>
            </a:r>
          </a:p>
          <a:p>
            <a:r>
              <a:rPr lang="en-US" dirty="0"/>
              <a:t>- Structure</a:t>
            </a:r>
          </a:p>
          <a:p>
            <a:r>
              <a:rPr lang="en-US" dirty="0"/>
              <a:t>- Roles (Dimensions, Measures)</a:t>
            </a:r>
          </a:p>
          <a:p>
            <a:r>
              <a:rPr lang="en-US" dirty="0"/>
              <a:t>- Physical arrangement</a:t>
            </a:r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1C9C7381-40E8-BB76-20AD-9B11149B5344}"/>
              </a:ext>
            </a:extLst>
          </p:cNvPr>
          <p:cNvSpPr/>
          <p:nvPr/>
        </p:nvSpPr>
        <p:spPr>
          <a:xfrm>
            <a:off x="4680154" y="185208"/>
            <a:ext cx="2035278" cy="18288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DDI-CDI Model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13BD2E-3FCD-347C-F3D8-303A58107629}"/>
              </a:ext>
            </a:extLst>
          </p:cNvPr>
          <p:cNvCxnSpPr>
            <a:cxnSpLocks/>
          </p:cNvCxnSpPr>
          <p:nvPr/>
        </p:nvCxnSpPr>
        <p:spPr>
          <a:xfrm>
            <a:off x="2272455" y="2592506"/>
            <a:ext cx="624228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92768EC-AA6A-5944-FEA3-3BD29CB555C5}"/>
              </a:ext>
            </a:extLst>
          </p:cNvPr>
          <p:cNvSpPr/>
          <p:nvPr/>
        </p:nvSpPr>
        <p:spPr>
          <a:xfrm>
            <a:off x="5447071" y="2080282"/>
            <a:ext cx="462116" cy="35811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2CFB0C-03CB-15CB-47FF-3147C85C52E6}"/>
              </a:ext>
            </a:extLst>
          </p:cNvPr>
          <p:cNvCxnSpPr>
            <a:cxnSpLocks/>
          </p:cNvCxnSpPr>
          <p:nvPr/>
        </p:nvCxnSpPr>
        <p:spPr>
          <a:xfrm>
            <a:off x="2426060" y="4377719"/>
            <a:ext cx="458434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39A289-B83D-A415-2DB4-8EB5E1C2D8B9}"/>
              </a:ext>
            </a:extLst>
          </p:cNvPr>
          <p:cNvSpPr/>
          <p:nvPr/>
        </p:nvSpPr>
        <p:spPr>
          <a:xfrm>
            <a:off x="7254216" y="4138819"/>
            <a:ext cx="2320413" cy="1358548"/>
          </a:xfrm>
          <a:prstGeom prst="rect">
            <a:avLst/>
          </a:prstGeom>
          <a:pattFill prst="lgGrid">
            <a:fgClr>
              <a:schemeClr val="tx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036C1-76E6-190B-D41B-34A5DDADEDBE}"/>
              </a:ext>
            </a:extLst>
          </p:cNvPr>
          <p:cNvSpPr txBox="1"/>
          <p:nvPr/>
        </p:nvSpPr>
        <p:spPr>
          <a:xfrm>
            <a:off x="7148051" y="5593709"/>
            <a:ext cx="3830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Wide Data Set: Dimensions viewed as </a:t>
            </a:r>
          </a:p>
          <a:p>
            <a:r>
              <a:rPr lang="en-US" b="1" dirty="0"/>
              <a:t>Variables (properties)</a:t>
            </a:r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A7574046-D1E2-A503-9F58-CF3291FAC23A}"/>
              </a:ext>
            </a:extLst>
          </p:cNvPr>
          <p:cNvSpPr/>
          <p:nvPr/>
        </p:nvSpPr>
        <p:spPr>
          <a:xfrm>
            <a:off x="10628233" y="1501784"/>
            <a:ext cx="1465006" cy="1156996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Domain Metadata Standards/ Models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32B81671-8BBA-A494-D0F9-0E1419BE3DDF}"/>
              </a:ext>
            </a:extLst>
          </p:cNvPr>
          <p:cNvSpPr/>
          <p:nvPr/>
        </p:nvSpPr>
        <p:spPr>
          <a:xfrm>
            <a:off x="8673255" y="1552504"/>
            <a:ext cx="1307690" cy="1156996"/>
          </a:xfrm>
          <a:prstGeom prst="folded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88AFA-D794-C3EE-5AA3-C0CC20BE586E}"/>
              </a:ext>
            </a:extLst>
          </p:cNvPr>
          <p:cNvSpPr txBox="1"/>
          <p:nvPr/>
        </p:nvSpPr>
        <p:spPr>
          <a:xfrm>
            <a:off x="8702726" y="1613010"/>
            <a:ext cx="1277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DDI-CDI </a:t>
            </a:r>
          </a:p>
          <a:p>
            <a:r>
              <a:rPr lang="en-US" b="1" dirty="0"/>
              <a:t>Description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EA58AC-F8D9-C203-9696-523235890B99}"/>
              </a:ext>
            </a:extLst>
          </p:cNvPr>
          <p:cNvSpPr txBox="1"/>
          <p:nvPr/>
        </p:nvSpPr>
        <p:spPr>
          <a:xfrm>
            <a:off x="8154320" y="2736306"/>
            <a:ext cx="40240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Variables</a:t>
            </a:r>
          </a:p>
          <a:p>
            <a:r>
              <a:rPr lang="en-US" dirty="0"/>
              <a:t>- Structure</a:t>
            </a:r>
          </a:p>
          <a:p>
            <a:r>
              <a:rPr lang="en-US" dirty="0"/>
              <a:t>- Roles (Identifiers, Attributes. Measures)</a:t>
            </a:r>
          </a:p>
          <a:p>
            <a:r>
              <a:rPr lang="en-US" dirty="0"/>
              <a:t>- Physical arrangement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6947240-8FEC-80FF-1203-510E42BD5DB2}"/>
              </a:ext>
            </a:extLst>
          </p:cNvPr>
          <p:cNvCxnSpPr>
            <a:cxnSpLocks/>
          </p:cNvCxnSpPr>
          <p:nvPr/>
        </p:nvCxnSpPr>
        <p:spPr>
          <a:xfrm>
            <a:off x="9995256" y="2113043"/>
            <a:ext cx="63297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A6B460-45CF-4F8D-CFCD-3D7686EEB2F6}"/>
              </a:ext>
            </a:extLst>
          </p:cNvPr>
          <p:cNvSpPr txBox="1"/>
          <p:nvPr/>
        </p:nvSpPr>
        <p:spPr>
          <a:xfrm>
            <a:off x="4680154" y="2685153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[TRANSFORMATION]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027D57-587F-0F9B-A9CE-F86B3F794B21}"/>
              </a:ext>
            </a:extLst>
          </p:cNvPr>
          <p:cNvSpPr txBox="1"/>
          <p:nvPr/>
        </p:nvSpPr>
        <p:spPr>
          <a:xfrm>
            <a:off x="3562678" y="4411877"/>
            <a:ext cx="2115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[TRANSFORMATION]</a:t>
            </a:r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4CD80FFE-2A2A-BFBA-83D4-622EFF7D283E}"/>
              </a:ext>
            </a:extLst>
          </p:cNvPr>
          <p:cNvSpPr/>
          <p:nvPr/>
        </p:nvSpPr>
        <p:spPr>
          <a:xfrm>
            <a:off x="7148051" y="185208"/>
            <a:ext cx="1750143" cy="622084"/>
          </a:xfrm>
          <a:prstGeom prst="wedgeRectCallout">
            <a:avLst>
              <a:gd name="adj1" fmla="val -77575"/>
              <a:gd name="adj2" fmla="val 3090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2C6592-3837-8C56-1968-5CE85147216E}"/>
              </a:ext>
            </a:extLst>
          </p:cNvPr>
          <p:cNvSpPr txBox="1"/>
          <p:nvPr/>
        </p:nvSpPr>
        <p:spPr>
          <a:xfrm>
            <a:off x="7178105" y="185208"/>
            <a:ext cx="1381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Predictable, </a:t>
            </a:r>
          </a:p>
          <a:p>
            <a:r>
              <a:rPr lang="en-US" dirty="0"/>
              <a:t>automatable</a:t>
            </a:r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61AA05E2-8516-7F2B-EF25-A755D91B2B08}"/>
              </a:ext>
            </a:extLst>
          </p:cNvPr>
          <p:cNvSpPr/>
          <p:nvPr/>
        </p:nvSpPr>
        <p:spPr>
          <a:xfrm>
            <a:off x="5724819" y="3226017"/>
            <a:ext cx="1750143" cy="622084"/>
          </a:xfrm>
          <a:prstGeom prst="wedgeRectCallout">
            <a:avLst>
              <a:gd name="adj1" fmla="val -101171"/>
              <a:gd name="adj2" fmla="val 1241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3436FF-4A77-4080-33AA-6FB90548FEBD}"/>
              </a:ext>
            </a:extLst>
          </p:cNvPr>
          <p:cNvSpPr txBox="1"/>
          <p:nvPr/>
        </p:nvSpPr>
        <p:spPr>
          <a:xfrm>
            <a:off x="5754873" y="3226017"/>
            <a:ext cx="13813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Predictable, </a:t>
            </a:r>
          </a:p>
          <a:p>
            <a:r>
              <a:rPr lang="en-US" dirty="0"/>
              <a:t>automatable</a:t>
            </a:r>
          </a:p>
        </p:txBody>
      </p:sp>
    </p:spTree>
    <p:extLst>
      <p:ext uri="{BB962C8B-B14F-4D97-AF65-F5344CB8AC3E}">
        <p14:creationId xmlns:p14="http://schemas.microsoft.com/office/powerpoint/2010/main" val="1295487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423F84-1464-05E7-7F04-6E04DCF39400}"/>
              </a:ext>
            </a:extLst>
          </p:cNvPr>
          <p:cNvSpPr/>
          <p:nvPr/>
        </p:nvSpPr>
        <p:spPr>
          <a:xfrm>
            <a:off x="1259633" y="839755"/>
            <a:ext cx="625151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1E8-908F-E802-3165-4E67E4E89828}"/>
              </a:ext>
            </a:extLst>
          </p:cNvPr>
          <p:cNvSpPr/>
          <p:nvPr/>
        </p:nvSpPr>
        <p:spPr>
          <a:xfrm>
            <a:off x="1724608" y="1601755"/>
            <a:ext cx="625151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B6193-2F5C-774A-3DCC-B8335E232130}"/>
              </a:ext>
            </a:extLst>
          </p:cNvPr>
          <p:cNvSpPr/>
          <p:nvPr/>
        </p:nvSpPr>
        <p:spPr>
          <a:xfrm>
            <a:off x="572277" y="2500601"/>
            <a:ext cx="1646854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420BFF-0469-78DA-F063-EA0CA90A3217}"/>
              </a:ext>
            </a:extLst>
          </p:cNvPr>
          <p:cNvSpPr/>
          <p:nvPr/>
        </p:nvSpPr>
        <p:spPr>
          <a:xfrm>
            <a:off x="2321767" y="839754"/>
            <a:ext cx="1018592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2472E-CACB-B54A-1933-67DA99741327}"/>
              </a:ext>
            </a:extLst>
          </p:cNvPr>
          <p:cNvSpPr/>
          <p:nvPr/>
        </p:nvSpPr>
        <p:spPr>
          <a:xfrm>
            <a:off x="2615681" y="2198913"/>
            <a:ext cx="1018592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55446A-B411-20EC-4FB0-183BCF09559D}"/>
              </a:ext>
            </a:extLst>
          </p:cNvPr>
          <p:cNvSpPr txBox="1"/>
          <p:nvPr/>
        </p:nvSpPr>
        <p:spPr>
          <a:xfrm>
            <a:off x="1622781" y="3996607"/>
            <a:ext cx="119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EB07CC7-60B9-7112-23FF-82BDDA71242D}"/>
              </a:ext>
            </a:extLst>
          </p:cNvPr>
          <p:cNvSpPr/>
          <p:nvPr/>
        </p:nvSpPr>
        <p:spPr>
          <a:xfrm>
            <a:off x="4104684" y="1426510"/>
            <a:ext cx="1376267" cy="76822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2D6A1-BA4B-52D8-B5F1-AC98C22303B9}"/>
              </a:ext>
            </a:extLst>
          </p:cNvPr>
          <p:cNvSpPr/>
          <p:nvPr/>
        </p:nvSpPr>
        <p:spPr>
          <a:xfrm>
            <a:off x="5937378" y="743336"/>
            <a:ext cx="6251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B314B-61B2-D393-742F-1177AA225D71}"/>
              </a:ext>
            </a:extLst>
          </p:cNvPr>
          <p:cNvSpPr/>
          <p:nvPr/>
        </p:nvSpPr>
        <p:spPr>
          <a:xfrm>
            <a:off x="7660492" y="743335"/>
            <a:ext cx="6251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1B9B3-CBFF-EA0E-E70D-730414BB4143}"/>
              </a:ext>
            </a:extLst>
          </p:cNvPr>
          <p:cNvSpPr/>
          <p:nvPr/>
        </p:nvSpPr>
        <p:spPr>
          <a:xfrm>
            <a:off x="9386717" y="743334"/>
            <a:ext cx="1376951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D5742-5DE2-4381-6B9D-A5A675943020}"/>
              </a:ext>
            </a:extLst>
          </p:cNvPr>
          <p:cNvSpPr/>
          <p:nvPr/>
        </p:nvSpPr>
        <p:spPr>
          <a:xfrm>
            <a:off x="6606102" y="743335"/>
            <a:ext cx="1018592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C3EDA-1197-EF1D-6B9E-977FA8722907}"/>
              </a:ext>
            </a:extLst>
          </p:cNvPr>
          <p:cNvSpPr/>
          <p:nvPr/>
        </p:nvSpPr>
        <p:spPr>
          <a:xfrm>
            <a:off x="8321441" y="734003"/>
            <a:ext cx="1018592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552476-CD30-C8F8-FC94-C7694D05EA51}"/>
              </a:ext>
            </a:extLst>
          </p:cNvPr>
          <p:cNvSpPr/>
          <p:nvPr/>
        </p:nvSpPr>
        <p:spPr>
          <a:xfrm>
            <a:off x="2662334" y="3100871"/>
            <a:ext cx="1192699" cy="597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C7B67-A537-7581-B36F-B87E6D0F34AA}"/>
              </a:ext>
            </a:extLst>
          </p:cNvPr>
          <p:cNvSpPr/>
          <p:nvPr/>
        </p:nvSpPr>
        <p:spPr>
          <a:xfrm>
            <a:off x="10811069" y="743334"/>
            <a:ext cx="1192699" cy="597159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8A7AAB-96B8-245E-E833-91478CA48F27}"/>
              </a:ext>
            </a:extLst>
          </p:cNvPr>
          <p:cNvSpPr/>
          <p:nvPr/>
        </p:nvSpPr>
        <p:spPr>
          <a:xfrm>
            <a:off x="5949813" y="1436912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0D471E-404B-B7DD-2765-9637C38F2AFB}"/>
              </a:ext>
            </a:extLst>
          </p:cNvPr>
          <p:cNvSpPr/>
          <p:nvPr/>
        </p:nvSpPr>
        <p:spPr>
          <a:xfrm>
            <a:off x="7672927" y="1436911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DC5727-0963-96BF-5AB4-79FEE03C5E4F}"/>
              </a:ext>
            </a:extLst>
          </p:cNvPr>
          <p:cNvSpPr/>
          <p:nvPr/>
        </p:nvSpPr>
        <p:spPr>
          <a:xfrm>
            <a:off x="9399152" y="1436910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C86060-B043-B38B-C8BF-43D23B410DAD}"/>
              </a:ext>
            </a:extLst>
          </p:cNvPr>
          <p:cNvSpPr/>
          <p:nvPr/>
        </p:nvSpPr>
        <p:spPr>
          <a:xfrm>
            <a:off x="6618537" y="1436911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C9F1D0-7D68-9751-E7E1-E2FB57258758}"/>
              </a:ext>
            </a:extLst>
          </p:cNvPr>
          <p:cNvSpPr/>
          <p:nvPr/>
        </p:nvSpPr>
        <p:spPr>
          <a:xfrm>
            <a:off x="8333876" y="1427579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3B4043-3B92-3D22-2838-43DB55EAF95E}"/>
              </a:ext>
            </a:extLst>
          </p:cNvPr>
          <p:cNvSpPr/>
          <p:nvPr/>
        </p:nvSpPr>
        <p:spPr>
          <a:xfrm>
            <a:off x="10823504" y="1436910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CF5275-C6C3-EC37-F351-DCBB1C02A10A}"/>
              </a:ext>
            </a:extLst>
          </p:cNvPr>
          <p:cNvSpPr/>
          <p:nvPr/>
        </p:nvSpPr>
        <p:spPr>
          <a:xfrm>
            <a:off x="5952917" y="2130488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A6628-A3A0-884A-2C7E-7A20B8F2DFD9}"/>
              </a:ext>
            </a:extLst>
          </p:cNvPr>
          <p:cNvSpPr/>
          <p:nvPr/>
        </p:nvSpPr>
        <p:spPr>
          <a:xfrm>
            <a:off x="7676031" y="2130487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84687A-71AE-1013-96D5-D4F191AE47F4}"/>
              </a:ext>
            </a:extLst>
          </p:cNvPr>
          <p:cNvSpPr/>
          <p:nvPr/>
        </p:nvSpPr>
        <p:spPr>
          <a:xfrm>
            <a:off x="9402256" y="2130486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A31F6C-F8B9-5B57-BD0D-FB5878D38069}"/>
              </a:ext>
            </a:extLst>
          </p:cNvPr>
          <p:cNvSpPr/>
          <p:nvPr/>
        </p:nvSpPr>
        <p:spPr>
          <a:xfrm>
            <a:off x="6621641" y="2130487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49168C-A4E9-D6D8-8B77-F22E85E5C853}"/>
              </a:ext>
            </a:extLst>
          </p:cNvPr>
          <p:cNvSpPr/>
          <p:nvPr/>
        </p:nvSpPr>
        <p:spPr>
          <a:xfrm>
            <a:off x="8336980" y="2121155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BF3A2A-A692-A385-FAE2-2AFC8E9DD22F}"/>
              </a:ext>
            </a:extLst>
          </p:cNvPr>
          <p:cNvSpPr/>
          <p:nvPr/>
        </p:nvSpPr>
        <p:spPr>
          <a:xfrm>
            <a:off x="10826608" y="2130486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B50BF0-7934-2E2B-ED80-D335428387C4}"/>
              </a:ext>
            </a:extLst>
          </p:cNvPr>
          <p:cNvSpPr/>
          <p:nvPr/>
        </p:nvSpPr>
        <p:spPr>
          <a:xfrm>
            <a:off x="5971579" y="2820953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99E400-8387-73B4-8A0A-FC2F7946D00A}"/>
              </a:ext>
            </a:extLst>
          </p:cNvPr>
          <p:cNvSpPr/>
          <p:nvPr/>
        </p:nvSpPr>
        <p:spPr>
          <a:xfrm>
            <a:off x="7694693" y="2820952"/>
            <a:ext cx="6251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0EF460-DE87-A7DD-1C4A-7C40C6A9E087}"/>
              </a:ext>
            </a:extLst>
          </p:cNvPr>
          <p:cNvSpPr/>
          <p:nvPr/>
        </p:nvSpPr>
        <p:spPr>
          <a:xfrm>
            <a:off x="9420918" y="2820951"/>
            <a:ext cx="1376951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EDUC LEVEL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0E8AE7-264D-C196-C1B2-BEA16D980116}"/>
              </a:ext>
            </a:extLst>
          </p:cNvPr>
          <p:cNvSpPr/>
          <p:nvPr/>
        </p:nvSpPr>
        <p:spPr>
          <a:xfrm>
            <a:off x="6640303" y="2820952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617AA5-5ACF-8565-C2E7-D587CD46E15C}"/>
              </a:ext>
            </a:extLst>
          </p:cNvPr>
          <p:cNvSpPr/>
          <p:nvPr/>
        </p:nvSpPr>
        <p:spPr>
          <a:xfrm>
            <a:off x="8355642" y="2811620"/>
            <a:ext cx="1018592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F5E919-9CE5-3190-D93C-BD3BF9D6D9E1}"/>
              </a:ext>
            </a:extLst>
          </p:cNvPr>
          <p:cNvSpPr/>
          <p:nvPr/>
        </p:nvSpPr>
        <p:spPr>
          <a:xfrm>
            <a:off x="10845270" y="2820951"/>
            <a:ext cx="1192699" cy="5971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</a:t>
            </a:r>
          </a:p>
        </p:txBody>
      </p:sp>
      <p:sp>
        <p:nvSpPr>
          <p:cNvPr id="35" name="Cube 34">
            <a:extLst>
              <a:ext uri="{FF2B5EF4-FFF2-40B4-BE49-F238E27FC236}">
                <a16:creationId xmlns:a16="http://schemas.microsoft.com/office/drawing/2014/main" id="{FD0437C6-578D-3769-0589-17ED93A52F85}"/>
              </a:ext>
            </a:extLst>
          </p:cNvPr>
          <p:cNvSpPr/>
          <p:nvPr/>
        </p:nvSpPr>
        <p:spPr>
          <a:xfrm>
            <a:off x="306355" y="5264786"/>
            <a:ext cx="1614196" cy="1156996"/>
          </a:xfrm>
          <a:prstGeom prst="cube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4EE14EF-6055-9EAC-8CFF-BA57692292B2}"/>
              </a:ext>
            </a:extLst>
          </p:cNvPr>
          <p:cNvSpPr/>
          <p:nvPr/>
        </p:nvSpPr>
        <p:spPr>
          <a:xfrm rot="17151656">
            <a:off x="375492" y="4020956"/>
            <a:ext cx="1376267" cy="76822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827AF9-A59E-B9A2-90FA-E74F22E7F39E}"/>
              </a:ext>
            </a:extLst>
          </p:cNvPr>
          <p:cNvSpPr txBox="1"/>
          <p:nvPr/>
        </p:nvSpPr>
        <p:spPr>
          <a:xfrm>
            <a:off x="4311558" y="3504221"/>
            <a:ext cx="77264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target format is wide, with the dimensions treated as variables (properties): </a:t>
            </a:r>
          </a:p>
          <a:p>
            <a:r>
              <a:rPr lang="en-US" dirty="0"/>
              <a:t>at least one must be a place where integration can be performed with </a:t>
            </a:r>
          </a:p>
          <a:p>
            <a:r>
              <a:rPr lang="en-US" dirty="0"/>
              <a:t>another data set (typically time and geography). Other variables may be </a:t>
            </a:r>
          </a:p>
          <a:p>
            <a:r>
              <a:rPr lang="en-US" dirty="0"/>
              <a:t>combined into compound identifiers, or may be treated as additional </a:t>
            </a:r>
          </a:p>
          <a:p>
            <a:r>
              <a:rPr lang="en-US" dirty="0"/>
              <a:t>descriptors or measures, depending on what they are. The roles of variables</a:t>
            </a:r>
          </a:p>
          <a:p>
            <a:r>
              <a:rPr lang="en-US" dirty="0"/>
              <a:t>Change according to the structures – the meanings/values do not.</a:t>
            </a:r>
          </a:p>
          <a:p>
            <a:endParaRPr lang="en-US" dirty="0"/>
          </a:p>
          <a:p>
            <a:r>
              <a:rPr lang="en-US" dirty="0"/>
              <a:t>Aggregate values would be repeated to align with micro-data records as </a:t>
            </a:r>
          </a:p>
          <a:p>
            <a:r>
              <a:rPr lang="en-US" dirty="0"/>
              <a:t>needed to provide the “complete” records for analysis.</a:t>
            </a:r>
          </a:p>
          <a:p>
            <a:endParaRPr lang="en-US" dirty="0"/>
          </a:p>
          <a:p>
            <a:r>
              <a:rPr lang="en-US" dirty="0"/>
              <a:t>Recoding/semantic transformations are handled separately as appropriate </a:t>
            </a:r>
          </a:p>
          <a:p>
            <a:r>
              <a:rPr lang="en-US" dirty="0"/>
              <a:t>to the structural re-arrangement. </a:t>
            </a:r>
          </a:p>
        </p:txBody>
      </p:sp>
    </p:spTree>
    <p:extLst>
      <p:ext uri="{BB962C8B-B14F-4D97-AF65-F5344CB8AC3E}">
        <p14:creationId xmlns:p14="http://schemas.microsoft.com/office/powerpoint/2010/main" val="1199257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4D9BC-5D08-D15E-0852-2FDF1F1B4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37501" cy="649759"/>
          </a:xfrm>
        </p:spPr>
        <p:txBody>
          <a:bodyPr>
            <a:normAutofit fontScale="90000"/>
          </a:bodyPr>
          <a:lstStyle/>
          <a:p>
            <a:r>
              <a:rPr lang="en-US" dirty="0"/>
              <a:t>Alignment/Combination with other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C75B0-BD41-8C19-C3B2-0A3D53C2E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5802"/>
            <a:ext cx="10515600" cy="549357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DDI-CDI is designed to work in the context of other standards</a:t>
            </a:r>
          </a:p>
          <a:p>
            <a:r>
              <a:rPr lang="en-US" dirty="0"/>
              <a:t>We are looking at:</a:t>
            </a:r>
          </a:p>
          <a:p>
            <a:pPr lvl="1"/>
            <a:r>
              <a:rPr lang="en-US" dirty="0"/>
              <a:t>Schema.org (discovery)</a:t>
            </a:r>
          </a:p>
          <a:p>
            <a:pPr lvl="1"/>
            <a:r>
              <a:rPr lang="en-US" dirty="0"/>
              <a:t>DCAT (cataloguing)</a:t>
            </a:r>
          </a:p>
          <a:p>
            <a:pPr lvl="1"/>
            <a:r>
              <a:rPr lang="en-US" dirty="0"/>
              <a:t>PROV-O (provenance/process)</a:t>
            </a:r>
            <a:br>
              <a:rPr lang="en-US" dirty="0"/>
            </a:br>
            <a:r>
              <a:rPr lang="en-US" dirty="0"/>
              <a:t>SKOS/XKOS (concepts and </a:t>
            </a:r>
            <a:r>
              <a:rPr lang="en-US" dirty="0" err="1"/>
              <a:t>codelists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I-ADOPT/O&amp;M</a:t>
            </a:r>
          </a:p>
          <a:p>
            <a:pPr lvl="1"/>
            <a:r>
              <a:rPr lang="en-US" dirty="0"/>
              <a:t>DDI Codebook/DDI Lifecycle</a:t>
            </a:r>
          </a:p>
          <a:p>
            <a:pPr lvl="1"/>
            <a:r>
              <a:rPr lang="en-US" dirty="0"/>
              <a:t>ODRL</a:t>
            </a:r>
          </a:p>
          <a:p>
            <a:r>
              <a:rPr lang="en-US" dirty="0"/>
              <a:t>Model-driven standard (UML, in Canonical XMI) can produce different equivalent syntaxes</a:t>
            </a:r>
          </a:p>
          <a:p>
            <a:pPr lvl="1"/>
            <a:r>
              <a:rPr lang="en-US" dirty="0"/>
              <a:t>XML</a:t>
            </a:r>
          </a:p>
          <a:p>
            <a:pPr lvl="1"/>
            <a:r>
              <a:rPr lang="en-US" dirty="0"/>
              <a:t>RDF (Turtle, JSON-LD)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 err="1"/>
              <a:t>ShEx</a:t>
            </a:r>
            <a:r>
              <a:rPr lang="en-US" dirty="0"/>
              <a:t>, SHACL</a:t>
            </a:r>
          </a:p>
          <a:p>
            <a:pPr lvl="1"/>
            <a:r>
              <a:rPr lang="en-US" dirty="0"/>
              <a:t>Others</a:t>
            </a:r>
          </a:p>
          <a:p>
            <a:r>
              <a:rPr lang="en-US" dirty="0"/>
              <a:t>Part of the Cross-Domain Interoperability Framework (CDIF) being developed by </a:t>
            </a:r>
            <a:r>
              <a:rPr lang="en-US" dirty="0" err="1"/>
              <a:t>WorldFAIR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539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208A-D455-79A1-88EE-F9743E53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DDI-CDI is “Semantics-Neutral”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673B7-44E5-2E76-A204-C493485E6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structures and the </a:t>
            </a:r>
            <a:r>
              <a:rPr lang="en-US" i="1" dirty="0"/>
              <a:t>roles</a:t>
            </a:r>
            <a:r>
              <a:rPr lang="en-US" dirty="0"/>
              <a:t> played by concepts in describing the data</a:t>
            </a:r>
          </a:p>
          <a:p>
            <a:r>
              <a:rPr lang="en-US" dirty="0"/>
              <a:t>The Concepts themselves can come from any type of controlled vocabulary</a:t>
            </a:r>
          </a:p>
          <a:p>
            <a:pPr lvl="1"/>
            <a:r>
              <a:rPr lang="en-US" dirty="0"/>
              <a:t>SKOS/XKOS</a:t>
            </a:r>
          </a:p>
          <a:p>
            <a:pPr lvl="1"/>
            <a:r>
              <a:rPr lang="en-US" dirty="0"/>
              <a:t>Ontologies (OWL, RDF-S, etc.)</a:t>
            </a:r>
          </a:p>
          <a:p>
            <a:pPr lvl="1"/>
            <a:r>
              <a:rPr lang="en-US" dirty="0"/>
              <a:t>Classifications, </a:t>
            </a:r>
            <a:r>
              <a:rPr lang="en-US" dirty="0" err="1"/>
              <a:t>codelists</a:t>
            </a:r>
            <a:r>
              <a:rPr lang="en-US" dirty="0"/>
              <a:t>, thesauri</a:t>
            </a:r>
          </a:p>
          <a:p>
            <a:r>
              <a:rPr lang="en-US" dirty="0"/>
              <a:t>Semantics are </a:t>
            </a:r>
            <a:r>
              <a:rPr lang="en-US" i="1" dirty="0"/>
              <a:t>domain-specific</a:t>
            </a:r>
            <a:r>
              <a:rPr lang="en-US" dirty="0"/>
              <a:t> – </a:t>
            </a:r>
            <a:r>
              <a:rPr lang="en-US" i="1" dirty="0"/>
              <a:t>structures</a:t>
            </a:r>
            <a:r>
              <a:rPr lang="en-US" dirty="0"/>
              <a:t> are not!</a:t>
            </a:r>
          </a:p>
        </p:txBody>
      </p:sp>
    </p:spTree>
    <p:extLst>
      <p:ext uri="{BB962C8B-B14F-4D97-AF65-F5344CB8AC3E}">
        <p14:creationId xmlns:p14="http://schemas.microsoft.com/office/powerpoint/2010/main" val="386648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FFE9-5BD5-F645-1045-BFF21C95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Upcoming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2A2C-0172-8370-8D36-968070E4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 very active group looking at how qualitative data can be managed alongside quantitative data</a:t>
            </a:r>
          </a:p>
          <a:p>
            <a:pPr lvl="1"/>
            <a:r>
              <a:rPr lang="en-US" dirty="0"/>
              <a:t>The model draws heavily on relevant W3C standards for annotation and “deep linking” (for segment selection)</a:t>
            </a:r>
          </a:p>
          <a:p>
            <a:pPr lvl="1"/>
            <a:r>
              <a:rPr lang="en-US" dirty="0"/>
              <a:t>The idea is that mixed-method collections could be managed as unitary </a:t>
            </a:r>
            <a:r>
              <a:rPr lang="en-US" i="1" dirty="0"/>
              <a:t>logical </a:t>
            </a:r>
            <a:r>
              <a:rPr lang="en-US" dirty="0"/>
              <a:t>ones</a:t>
            </a:r>
          </a:p>
          <a:p>
            <a:pPr lvl="2"/>
            <a:r>
              <a:rPr lang="en-US" dirty="0"/>
              <a:t>E.g., images of a patient’s brain could be held alongside relevant quantitative measures</a:t>
            </a:r>
          </a:p>
          <a:p>
            <a:pPr lvl="2"/>
            <a:r>
              <a:rPr lang="en-US" dirty="0"/>
              <a:t>Qualitative inputs to quantitative data sets could be described (like any other process)</a:t>
            </a:r>
          </a:p>
          <a:p>
            <a:pPr lvl="1"/>
            <a:r>
              <a:rPr lang="en-US" dirty="0"/>
              <a:t>Focus is on qualitative data as </a:t>
            </a:r>
            <a:r>
              <a:rPr lang="en-US" i="1" dirty="0"/>
              <a:t>data for management and reuse</a:t>
            </a:r>
            <a:r>
              <a:rPr lang="en-US" dirty="0"/>
              <a:t> – not on qualitative social science methods (etc.)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18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06C6-B433-0AAC-7E9F-D43E37C4E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Adopters of the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1EE98-4CBC-48FF-646F-FC9909C36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UKDA: </a:t>
            </a:r>
            <a:r>
              <a:rPr lang="en-US" dirty="0"/>
              <a:t>“Product Builder” application based on description of all variables in the archive in DDI-CDI</a:t>
            </a:r>
          </a:p>
          <a:p>
            <a:r>
              <a:rPr lang="en-US" b="1" dirty="0"/>
              <a:t>ESS “Climate Neutral and Smart Cities”: </a:t>
            </a:r>
            <a:r>
              <a:rPr lang="en-US" dirty="0"/>
              <a:t>Implementation of DDI-CDI Process model in combination with DDI Lifecycle for integrated social science and climate/environment data</a:t>
            </a:r>
          </a:p>
          <a:p>
            <a:r>
              <a:rPr lang="en-US" b="1" dirty="0" err="1"/>
              <a:t>WorldFAIR</a:t>
            </a:r>
            <a:r>
              <a:rPr lang="en-US" b="1" dirty="0"/>
              <a:t> “Cross-Domain Interoperability Framework” (CDIF):  </a:t>
            </a:r>
            <a:r>
              <a:rPr lang="en-US" dirty="0"/>
              <a:t>Implementation of DDI-CDI as part of a package of RDF vocabularies used for cross-domain FAIR exchange of data &amp; resource</a:t>
            </a:r>
          </a:p>
        </p:txBody>
      </p:sp>
    </p:spTree>
    <p:extLst>
      <p:ext uri="{BB962C8B-B14F-4D97-AF65-F5344CB8AC3E}">
        <p14:creationId xmlns:p14="http://schemas.microsoft.com/office/powerpoint/2010/main" val="2988373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389C8-902B-52CC-087C-84672373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8AF4-8959-EDE8-73D3-5366A90F7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39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Sikt</a:t>
            </a:r>
            <a:r>
              <a:rPr lang="en-US" b="1" dirty="0"/>
              <a:t>: </a:t>
            </a:r>
            <a:r>
              <a:rPr lang="en-US" dirty="0"/>
              <a:t>Stata/SPSS-to-DDI-CDI Converter, SQL Tools</a:t>
            </a:r>
          </a:p>
          <a:p>
            <a:r>
              <a:rPr lang="en-US" b="1" dirty="0"/>
              <a:t>High-Value Data Services: </a:t>
            </a:r>
            <a:r>
              <a:rPr lang="en-US" dirty="0" err="1"/>
              <a:t>Wrappering</a:t>
            </a:r>
            <a:r>
              <a:rPr lang="en-US" dirty="0"/>
              <a:t> of municipal “open data” from Socrata with DDI-CDI metadata (also DDI Codebook)</a:t>
            </a:r>
          </a:p>
          <a:p>
            <a:r>
              <a:rPr lang="en-US" dirty="0"/>
              <a:t>Implementation in </a:t>
            </a:r>
            <a:r>
              <a:rPr lang="en-US" b="1" dirty="0"/>
              <a:t>Harvard Dataverse</a:t>
            </a:r>
          </a:p>
          <a:p>
            <a:r>
              <a:rPr lang="en-US" b="1" dirty="0"/>
              <a:t>UNSD:</a:t>
            </a:r>
            <a:r>
              <a:rPr lang="en-US" dirty="0"/>
              <a:t> SDMX Web Services-to-DDI-CDI prototype (part of CDIF work)</a:t>
            </a:r>
          </a:p>
          <a:p>
            <a:r>
              <a:rPr lang="en-US" b="1" dirty="0"/>
              <a:t>DDI Alliance-SDMX Alignment (UN/ECE Modern Stats): </a:t>
            </a:r>
            <a:r>
              <a:rPr lang="en-US" dirty="0"/>
              <a:t>Mapping SDMX data cubes to DDI-CDI dimensional data </a:t>
            </a:r>
          </a:p>
          <a:p>
            <a:r>
              <a:rPr lang="en-US" b="1" dirty="0"/>
              <a:t>Climate Adapt for EOSC: </a:t>
            </a:r>
            <a:r>
              <a:rPr lang="en-US" dirty="0"/>
              <a:t>Integrating data with CDIF</a:t>
            </a:r>
          </a:p>
          <a:p>
            <a:r>
              <a:rPr lang="en-US" b="1" dirty="0"/>
              <a:t>EOSC OSCARS: </a:t>
            </a:r>
            <a:r>
              <a:rPr lang="en-US" dirty="0"/>
              <a:t>X-Ray Absorption Spectroscopy</a:t>
            </a:r>
          </a:p>
          <a:p>
            <a:r>
              <a:rPr lang="en-US" dirty="0"/>
              <a:t>Other </a:t>
            </a:r>
            <a:r>
              <a:rPr lang="en-US" b="1" dirty="0" err="1"/>
              <a:t>WorldFAIR</a:t>
            </a:r>
            <a:r>
              <a:rPr lang="en-US" b="1" dirty="0"/>
              <a:t>+ </a:t>
            </a:r>
            <a:r>
              <a:rPr lang="en-US" dirty="0"/>
              <a:t>Projects (CDIF)</a:t>
            </a:r>
          </a:p>
          <a:p>
            <a:r>
              <a:rPr lang="en-US" dirty="0"/>
              <a:t>“Nectar” spreadsheet tool (</a:t>
            </a:r>
            <a:r>
              <a:rPr lang="en-US" b="1" dirty="0"/>
              <a:t>DDI Developer’s Group</a:t>
            </a:r>
            <a:r>
              <a:rPr lang="en-US" dirty="0"/>
              <a:t>)</a:t>
            </a:r>
          </a:p>
          <a:p>
            <a:r>
              <a:rPr lang="en-US" dirty="0"/>
              <a:t>DDI-CDI/</a:t>
            </a:r>
            <a:r>
              <a:rPr lang="en-US" b="1" dirty="0"/>
              <a:t>Croissant</a:t>
            </a:r>
            <a:r>
              <a:rPr lang="en-US" dirty="0"/>
              <a:t> transformations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53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E554-E496-2B10-C4C3-3A589816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52C14-3AF8-5365-A753-7BD8C1422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2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A5F0-0500-E526-6D42-6272D3F8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Tour of Core Data Description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302E8-EA81-C6D7-AA9E-AF37F5DC5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Data sets, logical records, and variables</a:t>
            </a:r>
          </a:p>
          <a:p>
            <a:r>
              <a:rPr lang="en-US" dirty="0"/>
              <a:t>The Variable Cascade</a:t>
            </a:r>
          </a:p>
          <a:p>
            <a:r>
              <a:rPr lang="en-US" dirty="0"/>
              <a:t>Wide Data Structures</a:t>
            </a:r>
          </a:p>
          <a:p>
            <a:r>
              <a:rPr lang="en-US" dirty="0"/>
              <a:t>Long Data Structures</a:t>
            </a:r>
          </a:p>
          <a:p>
            <a:r>
              <a:rPr lang="en-US" dirty="0"/>
              <a:t>Dimensional Data Structures</a:t>
            </a:r>
          </a:p>
          <a:p>
            <a:r>
              <a:rPr lang="en-US" dirty="0"/>
              <a:t>Physical Representation of Data</a:t>
            </a:r>
          </a:p>
          <a:p>
            <a:endParaRPr lang="en-US" dirty="0"/>
          </a:p>
          <a:p>
            <a:r>
              <a:rPr lang="en-US" dirty="0"/>
              <a:t>Here we use the CDIF profile as an example, which does not show all of the available classes, and makes a very restricted use of the variable cascade</a:t>
            </a:r>
          </a:p>
          <a:p>
            <a:pPr lvl="1"/>
            <a:r>
              <a:rPr lang="en-US" dirty="0"/>
              <a:t>Requires only Instance Variables, and allows for optional use of Represented Variables (Instance Variables can be used in their stead as they are a sub-class of Represented Variables in the model)</a:t>
            </a:r>
          </a:p>
          <a:p>
            <a:r>
              <a:rPr lang="en-US" dirty="0"/>
              <a:t>Other profiles employ more of the variable cascade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859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8BC69A-D7C2-2202-FBD4-6A351BF8857B}"/>
              </a:ext>
            </a:extLst>
          </p:cNvPr>
          <p:cNvSpPr/>
          <p:nvPr/>
        </p:nvSpPr>
        <p:spPr>
          <a:xfrm>
            <a:off x="1632155" y="1622323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02FDB-C60A-B3C6-148B-FE6BE28CA490}"/>
              </a:ext>
            </a:extLst>
          </p:cNvPr>
          <p:cNvSpPr/>
          <p:nvPr/>
        </p:nvSpPr>
        <p:spPr>
          <a:xfrm>
            <a:off x="8480324" y="1622322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1CB17-E6B5-B161-5436-04EE6EAE6B0E}"/>
              </a:ext>
            </a:extLst>
          </p:cNvPr>
          <p:cNvSpPr/>
          <p:nvPr/>
        </p:nvSpPr>
        <p:spPr>
          <a:xfrm>
            <a:off x="1632155" y="4753897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STORE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415935-8C66-0B2A-F2A6-C5464FAD8AE5}"/>
              </a:ext>
            </a:extLst>
          </p:cNvPr>
          <p:cNvSpPr/>
          <p:nvPr/>
        </p:nvSpPr>
        <p:spPr>
          <a:xfrm>
            <a:off x="8480324" y="432988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A246ED-4ED9-36AA-7508-11221F077538}"/>
              </a:ext>
            </a:extLst>
          </p:cNvPr>
          <p:cNvSpPr/>
          <p:nvPr/>
        </p:nvSpPr>
        <p:spPr>
          <a:xfrm>
            <a:off x="4955458" y="311682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RECORD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F7E8-61D5-93FA-3FD1-ABF4148A60EB}"/>
              </a:ext>
            </a:extLst>
          </p:cNvPr>
          <p:cNvSpPr txBox="1"/>
          <p:nvPr/>
        </p:nvSpPr>
        <p:spPr>
          <a:xfrm>
            <a:off x="1455174" y="619122"/>
            <a:ext cx="363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DESCRIBE THE DATA SET OR SERVICE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774111-2278-25E2-B954-5FE0020A634B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913239" y="3116825"/>
            <a:ext cx="1042219" cy="747253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BBA325-D7F3-ACCC-4FCB-124ABAAD129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3913239" y="3864078"/>
            <a:ext cx="1042219" cy="163707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ECA745-449C-1C23-5AA7-8AAB62A8D1C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3913239" y="2369574"/>
            <a:ext cx="4567085" cy="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1F40D9-2679-1194-CB1D-48B8ACCED365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7236542" y="3864078"/>
            <a:ext cx="1243782" cy="1213054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5D25BE-21BC-8B04-E11F-F21C686B7010}"/>
              </a:ext>
            </a:extLst>
          </p:cNvPr>
          <p:cNvSpPr txBox="1"/>
          <p:nvPr/>
        </p:nvSpPr>
        <p:spPr>
          <a:xfrm>
            <a:off x="5157021" y="2000241"/>
            <a:ext cx="152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isStructuredBy</a:t>
            </a:r>
            <a:endParaRPr lang="en-US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353795-2FF6-132A-8CF3-F3307561F703}"/>
              </a:ext>
            </a:extLst>
          </p:cNvPr>
          <p:cNvSpPr txBox="1"/>
          <p:nvPr/>
        </p:nvSpPr>
        <p:spPr>
          <a:xfrm rot="2170304">
            <a:off x="3794028" y="3399670"/>
            <a:ext cx="1079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organizes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6B86A8-8AF4-15CA-4C7C-0AFC1E9025DE}"/>
              </a:ext>
            </a:extLst>
          </p:cNvPr>
          <p:cNvSpPr txBox="1"/>
          <p:nvPr/>
        </p:nvSpPr>
        <p:spPr>
          <a:xfrm rot="18301839">
            <a:off x="4035948" y="4471475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2DBEF2-B143-CDB5-8E40-B48C0AD32D05}"/>
              </a:ext>
            </a:extLst>
          </p:cNvPr>
          <p:cNvSpPr txBox="1"/>
          <p:nvPr/>
        </p:nvSpPr>
        <p:spPr>
          <a:xfrm rot="2316943">
            <a:off x="7665865" y="412270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</p:spTree>
    <p:extLst>
      <p:ext uri="{BB962C8B-B14F-4D97-AF65-F5344CB8AC3E}">
        <p14:creationId xmlns:p14="http://schemas.microsoft.com/office/powerpoint/2010/main" val="4171844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684F-916E-F035-C524-AFEFD468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the Variable Cascade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0ACED-EA0A-1035-5B05-8A15FC255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variable is defined by a (formal) Concept</a:t>
            </a:r>
          </a:p>
          <a:p>
            <a:pPr lvl="1"/>
            <a:r>
              <a:rPr lang="en-US" dirty="0"/>
              <a:t>Together, these form a reusable metadata construct termed a “Conceptual Variable”</a:t>
            </a:r>
          </a:p>
          <a:p>
            <a:r>
              <a:rPr lang="en-US" dirty="0"/>
              <a:t>Variables have representations</a:t>
            </a:r>
          </a:p>
          <a:p>
            <a:pPr lvl="1"/>
            <a:r>
              <a:rPr lang="en-US" dirty="0"/>
              <a:t>May be a data type</a:t>
            </a:r>
          </a:p>
          <a:p>
            <a:pPr lvl="1"/>
            <a:r>
              <a:rPr lang="en-US" dirty="0"/>
              <a:t>May be categorical (typically using a code list of some type)</a:t>
            </a:r>
          </a:p>
          <a:p>
            <a:pPr lvl="1"/>
            <a:r>
              <a:rPr lang="en-US" dirty="0"/>
              <a:t>A Conceptual Variable with added description of its representation is a reusable construct termed a “Represented Variable”</a:t>
            </a:r>
          </a:p>
          <a:p>
            <a:r>
              <a:rPr lang="en-US" dirty="0"/>
              <a:t>Variables appear in data as the definition of sets of values (in wide data, a column, etc.)</a:t>
            </a:r>
          </a:p>
          <a:p>
            <a:pPr lvl="1"/>
            <a:r>
              <a:rPr lang="en-US" dirty="0"/>
              <a:t>They are templates for a sub-set of the values provided</a:t>
            </a:r>
          </a:p>
          <a:p>
            <a:pPr lvl="1"/>
            <a:r>
              <a:rPr lang="en-US" dirty="0"/>
              <a:t>They are non-reusable applications of Represented Variables, and are termed “Instance Variables”</a:t>
            </a:r>
          </a:p>
          <a:p>
            <a:r>
              <a:rPr lang="en-US" dirty="0"/>
              <a:t>These different types of variables can be associated with the real-world subject of observation, at different levels of specificity (unit type, universe, population)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276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1FD98A-5965-9AF3-0C7A-12A908E4B851}"/>
              </a:ext>
            </a:extLst>
          </p:cNvPr>
          <p:cNvSpPr/>
          <p:nvPr/>
        </p:nvSpPr>
        <p:spPr>
          <a:xfrm>
            <a:off x="458742" y="367417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1B4DE8-9752-F7BB-55BC-71F7E788F04C}"/>
              </a:ext>
            </a:extLst>
          </p:cNvPr>
          <p:cNvSpPr/>
          <p:nvPr/>
        </p:nvSpPr>
        <p:spPr>
          <a:xfrm>
            <a:off x="501609" y="834447"/>
            <a:ext cx="2281084" cy="14945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REPRESENTED VARIABLE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93AE9A-4E50-F5F2-3619-BF3C2F9FEC9C}"/>
              </a:ext>
            </a:extLst>
          </p:cNvPr>
          <p:cNvSpPr/>
          <p:nvPr/>
        </p:nvSpPr>
        <p:spPr>
          <a:xfrm>
            <a:off x="9580770" y="1636517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SKOS CONCEPT SCHEME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1C6425-A09C-C2A9-84D8-41D5CDD7820F}"/>
              </a:ext>
            </a:extLst>
          </p:cNvPr>
          <p:cNvSpPr/>
          <p:nvPr/>
        </p:nvSpPr>
        <p:spPr>
          <a:xfrm>
            <a:off x="9296400" y="414302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XSD DATA TYPES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7753A-F1A1-4A6A-B865-060BC27E01BB}"/>
              </a:ext>
            </a:extLst>
          </p:cNvPr>
          <p:cNvSpPr/>
          <p:nvPr/>
        </p:nvSpPr>
        <p:spPr>
          <a:xfrm>
            <a:off x="9448800" y="429542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XSD DATA TYPES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3608B-4686-5753-7F8D-EDB121AAF0F9}"/>
              </a:ext>
            </a:extLst>
          </p:cNvPr>
          <p:cNvSpPr/>
          <p:nvPr/>
        </p:nvSpPr>
        <p:spPr>
          <a:xfrm>
            <a:off x="9601200" y="444782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XSD DATA TYPES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D7AFF-4E85-E34F-8422-63B7FA40FFE8}"/>
              </a:ext>
            </a:extLst>
          </p:cNvPr>
          <p:cNvSpPr/>
          <p:nvPr/>
        </p:nvSpPr>
        <p:spPr>
          <a:xfrm>
            <a:off x="9753600" y="4629092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XSD DATA TYPES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4AD402-FC2E-F360-7D9C-1E6F1924164D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 flipH="1">
            <a:off x="1599284" y="2328950"/>
            <a:ext cx="42867" cy="13452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E8767A-DB3F-DAB7-1598-BB4C881A12F2}"/>
              </a:ext>
            </a:extLst>
          </p:cNvPr>
          <p:cNvCxnSpPr>
            <a:cxnSpLocks/>
            <a:stCxn id="2" idx="3"/>
            <a:endCxn id="32" idx="1"/>
          </p:cNvCxnSpPr>
          <p:nvPr/>
        </p:nvCxnSpPr>
        <p:spPr>
          <a:xfrm flipV="1">
            <a:off x="2739826" y="2408274"/>
            <a:ext cx="2719358" cy="2013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274A7E-FE7A-DC16-312D-EDCCA25F1D82}"/>
              </a:ext>
            </a:extLst>
          </p:cNvPr>
          <p:cNvCxnSpPr>
            <a:cxnSpLocks/>
            <a:stCxn id="2" idx="3"/>
            <a:endCxn id="36" idx="1"/>
          </p:cNvCxnSpPr>
          <p:nvPr/>
        </p:nvCxnSpPr>
        <p:spPr>
          <a:xfrm>
            <a:off x="2739826" y="4421428"/>
            <a:ext cx="2717076" cy="1342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5C8E68-1607-28A3-00A3-72F8DCDF6ABD}"/>
              </a:ext>
            </a:extLst>
          </p:cNvPr>
          <p:cNvSpPr txBox="1"/>
          <p:nvPr/>
        </p:nvSpPr>
        <p:spPr>
          <a:xfrm rot="5400000">
            <a:off x="1544155" y="2816897"/>
            <a:ext cx="61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179D5C-555E-668C-D1FA-942AD425D0DE}"/>
              </a:ext>
            </a:extLst>
          </p:cNvPr>
          <p:cNvSpPr txBox="1"/>
          <p:nvPr/>
        </p:nvSpPr>
        <p:spPr>
          <a:xfrm>
            <a:off x="7450938" y="1078225"/>
            <a:ext cx="2416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recommendedDataType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234266-19AD-90F5-9220-17D3FEDCF830}"/>
              </a:ext>
            </a:extLst>
          </p:cNvPr>
          <p:cNvSpPr txBox="1"/>
          <p:nvPr/>
        </p:nvSpPr>
        <p:spPr>
          <a:xfrm>
            <a:off x="353966" y="330008"/>
            <a:ext cx="2622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DESCRIBE THE VARIABLES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105AFB4-9F44-BFA3-DBDF-7E28BFFEB934}"/>
              </a:ext>
            </a:extLst>
          </p:cNvPr>
          <p:cNvSpPr/>
          <p:nvPr/>
        </p:nvSpPr>
        <p:spPr>
          <a:xfrm>
            <a:off x="5459184" y="1661022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SUBSTANTIVE VALUE DOMAIN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670614-8849-04F2-A531-E0FE84309D9B}"/>
              </a:ext>
            </a:extLst>
          </p:cNvPr>
          <p:cNvSpPr/>
          <p:nvPr/>
        </p:nvSpPr>
        <p:spPr>
          <a:xfrm>
            <a:off x="5456902" y="5016279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SENTINEL VALUE DOMAIN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4B63D9-43FF-2794-3CCF-6FF12516B29F}"/>
              </a:ext>
            </a:extLst>
          </p:cNvPr>
          <p:cNvSpPr txBox="1"/>
          <p:nvPr/>
        </p:nvSpPr>
        <p:spPr>
          <a:xfrm rot="19413746">
            <a:off x="2620996" y="2946354"/>
            <a:ext cx="285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takesSubstantiveValuesFrom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3DBC14-063B-A35E-BEFA-1DEEF26AF5EE}"/>
              </a:ext>
            </a:extLst>
          </p:cNvPr>
          <p:cNvSpPr txBox="1"/>
          <p:nvPr/>
        </p:nvSpPr>
        <p:spPr>
          <a:xfrm rot="1670909">
            <a:off x="3003412" y="4720337"/>
            <a:ext cx="251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takesSentinelValuesFrom</a:t>
            </a:r>
            <a:endParaRPr lang="en-US" i="1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D15DDC0-D7B7-AEBA-6F0E-8F58B8190508}"/>
              </a:ext>
            </a:extLst>
          </p:cNvPr>
          <p:cNvCxnSpPr>
            <a:stCxn id="32" idx="3"/>
            <a:endCxn id="4" idx="1"/>
          </p:cNvCxnSpPr>
          <p:nvPr/>
        </p:nvCxnSpPr>
        <p:spPr>
          <a:xfrm flipV="1">
            <a:off x="7740268" y="2383769"/>
            <a:ext cx="1840502" cy="245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978E2C3-9BEB-D2C1-B279-6A4EF0A43924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7749342" y="4890278"/>
            <a:ext cx="1547058" cy="873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CE12AEE-A05D-1F0A-6E81-0F29564E37A2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 flipV="1">
            <a:off x="7737986" y="2383769"/>
            <a:ext cx="1842784" cy="33797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203C1E8-B2F9-3EB5-99CF-2BDC2EF50417}"/>
              </a:ext>
            </a:extLst>
          </p:cNvPr>
          <p:cNvCxnSpPr>
            <a:cxnSpLocks/>
            <a:stCxn id="5" idx="1"/>
            <a:endCxn id="32" idx="3"/>
          </p:cNvCxnSpPr>
          <p:nvPr/>
        </p:nvCxnSpPr>
        <p:spPr>
          <a:xfrm flipH="1" flipV="1">
            <a:off x="7740268" y="2408274"/>
            <a:ext cx="1556132" cy="24820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960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876480-AF4F-1673-3538-79195ACC1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38" y="390335"/>
            <a:ext cx="9469110" cy="621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7E8916-A403-9D51-3A7F-599A45B18921}"/>
              </a:ext>
            </a:extLst>
          </p:cNvPr>
          <p:cNvSpPr txBox="1"/>
          <p:nvPr/>
        </p:nvSpPr>
        <p:spPr>
          <a:xfrm>
            <a:off x="341644" y="301451"/>
            <a:ext cx="4659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Variable Cascade in the  Model</a:t>
            </a:r>
          </a:p>
        </p:txBody>
      </p:sp>
    </p:spTree>
    <p:extLst>
      <p:ext uri="{BB962C8B-B14F-4D97-AF65-F5344CB8AC3E}">
        <p14:creationId xmlns:p14="http://schemas.microsoft.com/office/powerpoint/2010/main" val="2842880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B39553-4E55-0123-AD1A-9990F70C97F8}"/>
              </a:ext>
            </a:extLst>
          </p:cNvPr>
          <p:cNvSpPr/>
          <p:nvPr/>
        </p:nvSpPr>
        <p:spPr>
          <a:xfrm>
            <a:off x="501609" y="367417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27B32-E7E5-4CDA-DC6B-10C0F446593C}"/>
              </a:ext>
            </a:extLst>
          </p:cNvPr>
          <p:cNvSpPr/>
          <p:nvPr/>
        </p:nvSpPr>
        <p:spPr>
          <a:xfrm>
            <a:off x="501609" y="834447"/>
            <a:ext cx="2281084" cy="149450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REPRESENTED VARIABLE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537DDA-36CB-0D2C-E22A-99B6E0400A2D}"/>
              </a:ext>
            </a:extLst>
          </p:cNvPr>
          <p:cNvCxnSpPr>
            <a:cxnSpLocks/>
            <a:stCxn id="3" idx="2"/>
            <a:endCxn id="2" idx="0"/>
          </p:cNvCxnSpPr>
          <p:nvPr/>
        </p:nvCxnSpPr>
        <p:spPr>
          <a:xfrm>
            <a:off x="1642151" y="2328950"/>
            <a:ext cx="0" cy="134522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E20627-EC62-B907-10DA-1B34C9C294D3}"/>
              </a:ext>
            </a:extLst>
          </p:cNvPr>
          <p:cNvSpPr txBox="1"/>
          <p:nvPr/>
        </p:nvSpPr>
        <p:spPr>
          <a:xfrm rot="5400000">
            <a:off x="1544155" y="2816897"/>
            <a:ext cx="611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uses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F5581-DE26-36E4-7463-F7D4E8ED6751}"/>
              </a:ext>
            </a:extLst>
          </p:cNvPr>
          <p:cNvSpPr/>
          <p:nvPr/>
        </p:nvSpPr>
        <p:spPr>
          <a:xfrm>
            <a:off x="9271819" y="247773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RECORD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1C576-A7E2-25B3-9D1E-82A60EEB1BCA}"/>
              </a:ext>
            </a:extLst>
          </p:cNvPr>
          <p:cNvSpPr/>
          <p:nvPr/>
        </p:nvSpPr>
        <p:spPr>
          <a:xfrm>
            <a:off x="4395019" y="254343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 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94218-7E3C-7396-0011-49D49CD1B6E2}"/>
              </a:ext>
            </a:extLst>
          </p:cNvPr>
          <p:cNvSpPr/>
          <p:nvPr/>
        </p:nvSpPr>
        <p:spPr>
          <a:xfrm>
            <a:off x="4395019" y="262637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UNIVERSE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72EDD4-2BFC-8E5C-B7BD-C12066261DFE}"/>
              </a:ext>
            </a:extLst>
          </p:cNvPr>
          <p:cNvSpPr/>
          <p:nvPr/>
        </p:nvSpPr>
        <p:spPr>
          <a:xfrm>
            <a:off x="4395019" y="4998407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POPULATION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CBB949-074F-D4CC-0AA7-42836A13B0F5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5535561" y="1748846"/>
            <a:ext cx="0" cy="87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AD9026-1D19-4800-2676-F83C05E9BEF5}"/>
              </a:ext>
            </a:extLst>
          </p:cNvPr>
          <p:cNvCxnSpPr>
            <a:cxnSpLocks/>
          </p:cNvCxnSpPr>
          <p:nvPr/>
        </p:nvCxnSpPr>
        <p:spPr>
          <a:xfrm flipV="1">
            <a:off x="5535561" y="4120878"/>
            <a:ext cx="0" cy="877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E25F234-9A71-DF9D-4838-BEB6B2FDDF4E}"/>
              </a:ext>
            </a:extLst>
          </p:cNvPr>
          <p:cNvSpPr txBox="1"/>
          <p:nvPr/>
        </p:nvSpPr>
        <p:spPr>
          <a:xfrm>
            <a:off x="5535561" y="1942099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[subclass of]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01631-D73A-9563-A468-2C8A8C8791E6}"/>
              </a:ext>
            </a:extLst>
          </p:cNvPr>
          <p:cNvSpPr txBox="1"/>
          <p:nvPr/>
        </p:nvSpPr>
        <p:spPr>
          <a:xfrm>
            <a:off x="5535561" y="4387806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[subclass of]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6973A2-65D1-9EF8-82EB-4906A8291170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2782693" y="1581699"/>
            <a:ext cx="1612326" cy="17919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2FDD807-0B97-AA93-AB99-D02B909F9AB9}"/>
              </a:ext>
            </a:extLst>
          </p:cNvPr>
          <p:cNvSpPr txBox="1"/>
          <p:nvPr/>
        </p:nvSpPr>
        <p:spPr>
          <a:xfrm rot="2846278">
            <a:off x="3149873" y="1952898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measures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DDB01C-6514-6F46-9D03-A28D6AD068A0}"/>
              </a:ext>
            </a:extLst>
          </p:cNvPr>
          <p:cNvCxnSpPr>
            <a:cxnSpLocks/>
          </p:cNvCxnSpPr>
          <p:nvPr/>
        </p:nvCxnSpPr>
        <p:spPr>
          <a:xfrm>
            <a:off x="2782693" y="4421427"/>
            <a:ext cx="1612326" cy="1324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E9F9CA-B3EB-50CC-AC22-FC1945CDB53D}"/>
              </a:ext>
            </a:extLst>
          </p:cNvPr>
          <p:cNvSpPr txBox="1"/>
          <p:nvPr/>
        </p:nvSpPr>
        <p:spPr>
          <a:xfrm rot="2373692">
            <a:off x="3012617" y="4535772"/>
            <a:ext cx="1083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measures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A4DA8E-07D3-72FD-8C26-7668DC773548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 flipV="1">
            <a:off x="6676103" y="1001595"/>
            <a:ext cx="2595716" cy="2223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7F2C3B-84AF-DBD2-1CF3-C72EDE49497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720279" y="3224982"/>
            <a:ext cx="2551540" cy="148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9E2002-9E29-60F9-9A4F-EAC8EB67AB74}"/>
              </a:ext>
            </a:extLst>
          </p:cNvPr>
          <p:cNvCxnSpPr>
            <a:cxnSpLocks/>
            <a:stCxn id="6" idx="1"/>
            <a:endCxn id="9" idx="3"/>
          </p:cNvCxnSpPr>
          <p:nvPr/>
        </p:nvCxnSpPr>
        <p:spPr>
          <a:xfrm flipH="1">
            <a:off x="6676103" y="3224982"/>
            <a:ext cx="2595716" cy="2520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E15A7EF-B2F9-9C59-DABD-BD9AA50B4897}"/>
              </a:ext>
            </a:extLst>
          </p:cNvPr>
          <p:cNvSpPr txBox="1"/>
          <p:nvPr/>
        </p:nvSpPr>
        <p:spPr>
          <a:xfrm rot="2560856">
            <a:off x="7436648" y="1604401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15B53-6174-F663-D417-12AE34CE51BE}"/>
              </a:ext>
            </a:extLst>
          </p:cNvPr>
          <p:cNvSpPr txBox="1"/>
          <p:nvPr/>
        </p:nvSpPr>
        <p:spPr>
          <a:xfrm rot="19081295">
            <a:off x="7235156" y="4137072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E87B55-66A3-979E-D4A7-4F693EACCCDD}"/>
              </a:ext>
            </a:extLst>
          </p:cNvPr>
          <p:cNvSpPr txBox="1"/>
          <p:nvPr/>
        </p:nvSpPr>
        <p:spPr>
          <a:xfrm>
            <a:off x="7116245" y="2929972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39964-644E-1D95-31C0-1A78276895C1}"/>
              </a:ext>
            </a:extLst>
          </p:cNvPr>
          <p:cNvSpPr txBox="1"/>
          <p:nvPr/>
        </p:nvSpPr>
        <p:spPr>
          <a:xfrm>
            <a:off x="190500" y="254343"/>
            <a:ext cx="330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Variable Cascade as Used in CDIF</a:t>
            </a:r>
          </a:p>
        </p:txBody>
      </p:sp>
    </p:spTree>
    <p:extLst>
      <p:ext uri="{BB962C8B-B14F-4D97-AF65-F5344CB8AC3E}">
        <p14:creationId xmlns:p14="http://schemas.microsoft.com/office/powerpoint/2010/main" val="233848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9.png">
            <a:extLst>
              <a:ext uri="{FF2B5EF4-FFF2-40B4-BE49-F238E27FC236}">
                <a16:creationId xmlns:a16="http://schemas.microsoft.com/office/drawing/2014/main" id="{07DBC7B5-740E-C00A-A37D-070803646588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481187" y="1825625"/>
            <a:ext cx="4532964" cy="4153143"/>
          </a:xfrm>
          <a:prstGeom prst="rect">
            <a:avLst/>
          </a:prstGeom>
          <a:ln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EE027D2-958C-4345-E025-B0CB4BA1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Wide Data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38452-5D51-9312-33C3-CF3C04C8CF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“Wide” data is also described as “unit-record data”</a:t>
            </a:r>
          </a:p>
          <a:p>
            <a:pPr lvl="1"/>
            <a:r>
              <a:rPr lang="en-US" dirty="0"/>
              <a:t>Each row describes one observed unit using a set of variables (columns)</a:t>
            </a:r>
          </a:p>
          <a:p>
            <a:r>
              <a:rPr lang="en-US" dirty="0"/>
              <a:t>Here, Taxpayer ID, Year, and Taxes Paid are variables</a:t>
            </a:r>
          </a:p>
          <a:p>
            <a:r>
              <a:rPr lang="en-US" dirty="0"/>
              <a:t>At least one variable holds the observation value (Taxes Paid)</a:t>
            </a:r>
          </a:p>
          <a:p>
            <a:r>
              <a:rPr lang="en-US" dirty="0"/>
              <a:t>Other variables provide a “key” for identifying the observation value(s)</a:t>
            </a:r>
          </a:p>
          <a:p>
            <a:pPr lvl="1"/>
            <a:r>
              <a:rPr lang="en-US" dirty="0"/>
              <a:t>Taxpayer ID + Year</a:t>
            </a:r>
          </a:p>
          <a:p>
            <a:r>
              <a:rPr lang="en-US" dirty="0"/>
              <a:t>Other variables can act as descriptors (none in this example)</a:t>
            </a:r>
          </a:p>
        </p:txBody>
      </p:sp>
    </p:spTree>
    <p:extLst>
      <p:ext uri="{BB962C8B-B14F-4D97-AF65-F5344CB8AC3E}">
        <p14:creationId xmlns:p14="http://schemas.microsoft.com/office/powerpoint/2010/main" val="3703873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616751-45C2-8BD6-F5FE-35A381B3F08E}"/>
              </a:ext>
            </a:extLst>
          </p:cNvPr>
          <p:cNvSpPr txBox="1"/>
          <p:nvPr/>
        </p:nvSpPr>
        <p:spPr>
          <a:xfrm>
            <a:off x="724405" y="1626899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WIDE DATA STRUCTURES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23C4F2-5F06-804A-2A45-D0C5F0B797EE}"/>
              </a:ext>
            </a:extLst>
          </p:cNvPr>
          <p:cNvSpPr/>
          <p:nvPr/>
        </p:nvSpPr>
        <p:spPr>
          <a:xfrm>
            <a:off x="354125" y="301541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67D5F-CEE0-9B96-DD42-0BE61E792BF1}"/>
              </a:ext>
            </a:extLst>
          </p:cNvPr>
          <p:cNvSpPr/>
          <p:nvPr/>
        </p:nvSpPr>
        <p:spPr>
          <a:xfrm>
            <a:off x="4262448" y="1309518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IDENTIFIER COMPONENT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675608-444E-19E2-07B5-0927F609FE09}"/>
              </a:ext>
            </a:extLst>
          </p:cNvPr>
          <p:cNvSpPr/>
          <p:nvPr/>
        </p:nvSpPr>
        <p:spPr>
          <a:xfrm>
            <a:off x="4262448" y="301541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 COMPONENT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24A55-351B-758F-8C80-73662EB93DE2}"/>
              </a:ext>
            </a:extLst>
          </p:cNvPr>
          <p:cNvSpPr/>
          <p:nvPr/>
        </p:nvSpPr>
        <p:spPr>
          <a:xfrm>
            <a:off x="4262448" y="480123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ATTRIBUTE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0D0E0C-1E24-9689-48D2-EB6AFB77EE77}"/>
              </a:ext>
            </a:extLst>
          </p:cNvPr>
          <p:cNvSpPr/>
          <p:nvPr/>
        </p:nvSpPr>
        <p:spPr>
          <a:xfrm>
            <a:off x="9282433" y="2544974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KEY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B15736-2989-099E-89CD-7626F3F0FF5D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2635209" y="2056770"/>
            <a:ext cx="1627239" cy="17058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B08184-542A-701F-00A3-1180F26E59F3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>
            <a:off x="2635209" y="3762667"/>
            <a:ext cx="16272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DBFFBF-419A-AD6F-6014-36B18B9D9967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 flipV="1">
            <a:off x="2635209" y="3762667"/>
            <a:ext cx="1627239" cy="1785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39301-D313-E08E-C9D6-E06F4E0C1049}"/>
              </a:ext>
            </a:extLst>
          </p:cNvPr>
          <p:cNvSpPr txBox="1"/>
          <p:nvPr/>
        </p:nvSpPr>
        <p:spPr>
          <a:xfrm>
            <a:off x="2810768" y="3741118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F9610-4533-76CD-1D2E-8C4D45D65A94}"/>
              </a:ext>
            </a:extLst>
          </p:cNvPr>
          <p:cNvSpPr txBox="1"/>
          <p:nvPr/>
        </p:nvSpPr>
        <p:spPr>
          <a:xfrm rot="2837843">
            <a:off x="2766902" y="4600698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4C2FA8-EA3D-C4B8-3C2B-FCBF1A6C081D}"/>
              </a:ext>
            </a:extLst>
          </p:cNvPr>
          <p:cNvSpPr txBox="1"/>
          <p:nvPr/>
        </p:nvSpPr>
        <p:spPr>
          <a:xfrm rot="19016796">
            <a:off x="2640250" y="2590460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7C2A-71F6-9EBE-C25B-57A65FFFC7FD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0381996" y="1582993"/>
            <a:ext cx="0" cy="101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02F8623-5749-1F3E-27D9-4886AC69E750}"/>
              </a:ext>
            </a:extLst>
          </p:cNvPr>
          <p:cNvSpPr/>
          <p:nvPr/>
        </p:nvSpPr>
        <p:spPr>
          <a:xfrm>
            <a:off x="8249429" y="4685071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WIDE DATA STRUCTURE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99B65E-C901-C3B1-6BFE-3F66901E9E89}"/>
              </a:ext>
            </a:extLst>
          </p:cNvPr>
          <p:cNvCxnSpPr>
            <a:stCxn id="23" idx="0"/>
            <a:endCxn id="9" idx="2"/>
          </p:cNvCxnSpPr>
          <p:nvPr/>
        </p:nvCxnSpPr>
        <p:spPr>
          <a:xfrm flipV="1">
            <a:off x="9389971" y="4039477"/>
            <a:ext cx="1033004" cy="645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ABA69A8-9220-688B-3887-35FBF36A212F}"/>
              </a:ext>
            </a:extLst>
          </p:cNvPr>
          <p:cNvSpPr txBox="1"/>
          <p:nvPr/>
        </p:nvSpPr>
        <p:spPr>
          <a:xfrm rot="19569221">
            <a:off x="9300951" y="415962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73E5A1-85C7-C26A-2E99-AC48E5FE5F48}"/>
              </a:ext>
            </a:extLst>
          </p:cNvPr>
          <p:cNvCxnSpPr>
            <a:cxnSpLocks/>
            <a:stCxn id="23" idx="1"/>
            <a:endCxn id="6" idx="3"/>
          </p:cNvCxnSpPr>
          <p:nvPr/>
        </p:nvCxnSpPr>
        <p:spPr>
          <a:xfrm flipH="1" flipV="1">
            <a:off x="6543532" y="2056770"/>
            <a:ext cx="1705897" cy="3375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14D3975-5649-DBE1-F378-326CCEE42054}"/>
              </a:ext>
            </a:extLst>
          </p:cNvPr>
          <p:cNvSpPr txBox="1"/>
          <p:nvPr/>
        </p:nvSpPr>
        <p:spPr>
          <a:xfrm rot="3914542">
            <a:off x="7140641" y="3242067"/>
            <a:ext cx="511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F203BA6-FFD7-7432-E0DB-19F6620520A9}"/>
              </a:ext>
            </a:extLst>
          </p:cNvPr>
          <p:cNvCxnSpPr>
            <a:cxnSpLocks/>
            <a:stCxn id="23" idx="1"/>
            <a:endCxn id="7" idx="3"/>
          </p:cNvCxnSpPr>
          <p:nvPr/>
        </p:nvCxnSpPr>
        <p:spPr>
          <a:xfrm flipH="1" flipV="1">
            <a:off x="6543532" y="3762667"/>
            <a:ext cx="1705897" cy="1669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93B695-05EE-38D4-5100-D91232483143}"/>
              </a:ext>
            </a:extLst>
          </p:cNvPr>
          <p:cNvCxnSpPr>
            <a:cxnSpLocks/>
            <a:stCxn id="23" idx="1"/>
            <a:endCxn id="8" idx="3"/>
          </p:cNvCxnSpPr>
          <p:nvPr/>
        </p:nvCxnSpPr>
        <p:spPr>
          <a:xfrm flipH="1">
            <a:off x="6543532" y="5432323"/>
            <a:ext cx="1705897" cy="116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B7E49A3-7194-77D8-0523-E792A05BBC93}"/>
              </a:ext>
            </a:extLst>
          </p:cNvPr>
          <p:cNvSpPr txBox="1"/>
          <p:nvPr/>
        </p:nvSpPr>
        <p:spPr>
          <a:xfrm rot="2765859">
            <a:off x="6771822" y="3880850"/>
            <a:ext cx="587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C67101-7FCE-00B1-8ECC-AFCBC8BAA555}"/>
              </a:ext>
            </a:extLst>
          </p:cNvPr>
          <p:cNvSpPr txBox="1"/>
          <p:nvPr/>
        </p:nvSpPr>
        <p:spPr>
          <a:xfrm rot="10593343" flipH="1" flipV="1">
            <a:off x="7076295" y="5159205"/>
            <a:ext cx="60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FF5BA1-C7ED-A5AC-6A87-C2553E65A249}"/>
              </a:ext>
            </a:extLst>
          </p:cNvPr>
          <p:cNvSpPr/>
          <p:nvPr/>
        </p:nvSpPr>
        <p:spPr>
          <a:xfrm>
            <a:off x="9241454" y="8849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KEY COMPONENT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67AC93-1E69-E179-45CF-691CB616A760}"/>
              </a:ext>
            </a:extLst>
          </p:cNvPr>
          <p:cNvSpPr txBox="1"/>
          <p:nvPr/>
        </p:nvSpPr>
        <p:spPr>
          <a:xfrm>
            <a:off x="8896595" y="1879317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isComposedOf</a:t>
            </a:r>
            <a:endParaRPr lang="en-US" i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B89DAE0-F349-4A5B-8731-89B3F2DAC754}"/>
              </a:ext>
            </a:extLst>
          </p:cNvPr>
          <p:cNvCxnSpPr>
            <a:cxnSpLocks/>
            <a:stCxn id="47" idx="1"/>
            <a:endCxn id="6" idx="3"/>
          </p:cNvCxnSpPr>
          <p:nvPr/>
        </p:nvCxnSpPr>
        <p:spPr>
          <a:xfrm flipH="1">
            <a:off x="6543532" y="835742"/>
            <a:ext cx="2697922" cy="1221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2C6117E-22B4-6C86-0017-E6FC49372080}"/>
              </a:ext>
            </a:extLst>
          </p:cNvPr>
          <p:cNvCxnSpPr>
            <a:cxnSpLocks/>
            <a:stCxn id="47" idx="1"/>
            <a:endCxn id="8" idx="3"/>
          </p:cNvCxnSpPr>
          <p:nvPr/>
        </p:nvCxnSpPr>
        <p:spPr>
          <a:xfrm flipH="1">
            <a:off x="6543532" y="835742"/>
            <a:ext cx="2697922" cy="4712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40F42A0-2FD8-C3FF-AC90-6AFA0A475AAE}"/>
              </a:ext>
            </a:extLst>
          </p:cNvPr>
          <p:cNvSpPr txBox="1"/>
          <p:nvPr/>
        </p:nvSpPr>
        <p:spPr>
          <a:xfrm rot="20239381">
            <a:off x="6995731" y="1114343"/>
            <a:ext cx="153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correspondsTo</a:t>
            </a:r>
            <a:endParaRPr lang="en-US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407184-F417-E5DA-1501-C4060163934F}"/>
              </a:ext>
            </a:extLst>
          </p:cNvPr>
          <p:cNvSpPr txBox="1"/>
          <p:nvPr/>
        </p:nvSpPr>
        <p:spPr>
          <a:xfrm rot="18065439">
            <a:off x="7376585" y="2180589"/>
            <a:ext cx="153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correspondsTo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85634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0.png">
            <a:extLst>
              <a:ext uri="{FF2B5EF4-FFF2-40B4-BE49-F238E27FC236}">
                <a16:creationId xmlns:a16="http://schemas.microsoft.com/office/drawing/2014/main" id="{7074CC6D-5585-4F12-84CC-7A7167EC6E9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440994" y="589884"/>
            <a:ext cx="4374484" cy="2957184"/>
          </a:xfrm>
          <a:prstGeom prst="rect">
            <a:avLst/>
          </a:prstGeom>
          <a:ln/>
        </p:spPr>
      </p:pic>
      <p:pic>
        <p:nvPicPr>
          <p:cNvPr id="3" name="image14.png">
            <a:extLst>
              <a:ext uri="{FF2B5EF4-FFF2-40B4-BE49-F238E27FC236}">
                <a16:creationId xmlns:a16="http://schemas.microsoft.com/office/drawing/2014/main" id="{D5D73626-AD09-C1B2-6FCD-3B197814D0F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722705" y="4307936"/>
            <a:ext cx="3828065" cy="1728349"/>
          </a:xfrm>
          <a:prstGeom prst="rect">
            <a:avLst/>
          </a:prstGeom>
          <a:ln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031DB1-85B5-DC25-BA41-0486BC262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Data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31AE9B-B1F9-6F14-28A5-250F400443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Long data is often seen as the output of sensors, in event registers, and similar “streams” of data</a:t>
            </a:r>
          </a:p>
          <a:p>
            <a:r>
              <a:rPr lang="en-US" dirty="0"/>
              <a:t>Each entry is a value plus identifiers and descriptors to tell you what the logical content is</a:t>
            </a:r>
          </a:p>
          <a:p>
            <a:pPr lvl="1"/>
            <a:r>
              <a:rPr lang="en-US" dirty="0"/>
              <a:t>The smaller table below shows how this data could be understood as Wide data, with a “logical” variable in each column</a:t>
            </a:r>
          </a:p>
          <a:p>
            <a:pPr lvl="1"/>
            <a:r>
              <a:rPr lang="en-US" dirty="0"/>
              <a:t>Note that the UoM (unit of measure) is part of the variable descriptions in this example (and thus not shown)</a:t>
            </a:r>
          </a:p>
        </p:txBody>
      </p:sp>
    </p:spTree>
    <p:extLst>
      <p:ext uri="{BB962C8B-B14F-4D97-AF65-F5344CB8AC3E}">
        <p14:creationId xmlns:p14="http://schemas.microsoft.com/office/powerpoint/2010/main" val="1060090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770F9-C10C-98FA-FFD4-4506EA434763}"/>
              </a:ext>
            </a:extLst>
          </p:cNvPr>
          <p:cNvSpPr/>
          <p:nvPr/>
        </p:nvSpPr>
        <p:spPr>
          <a:xfrm>
            <a:off x="4520544" y="491234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9B800-6545-DCCE-7262-A55AD49E7DD2}"/>
              </a:ext>
            </a:extLst>
          </p:cNvPr>
          <p:cNvSpPr/>
          <p:nvPr/>
        </p:nvSpPr>
        <p:spPr>
          <a:xfrm>
            <a:off x="3579106" y="248215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DESCRIPTOR VARIABLE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0270D7-914D-C453-0EB0-9A068B6B6F85}"/>
              </a:ext>
            </a:extLst>
          </p:cNvPr>
          <p:cNvSpPr/>
          <p:nvPr/>
        </p:nvSpPr>
        <p:spPr>
          <a:xfrm>
            <a:off x="4520544" y="159424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REFERENCE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6F55F-B2D0-B54A-42E3-707DE4B5BD29}"/>
              </a:ext>
            </a:extLst>
          </p:cNvPr>
          <p:cNvSpPr/>
          <p:nvPr/>
        </p:nvSpPr>
        <p:spPr>
          <a:xfrm>
            <a:off x="8706867" y="158116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DESCRIPTOR VALUE DOMAIN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031CA8-38FA-5FCA-73BE-4AEF2D4BDD03}"/>
              </a:ext>
            </a:extLst>
          </p:cNvPr>
          <p:cNvSpPr/>
          <p:nvPr/>
        </p:nvSpPr>
        <p:spPr>
          <a:xfrm>
            <a:off x="8942603" y="4976949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DESCRIPTOR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AFF60-54A9-91A8-D351-3CE341F9AB8B}"/>
              </a:ext>
            </a:extLst>
          </p:cNvPr>
          <p:cNvSpPr/>
          <p:nvPr/>
        </p:nvSpPr>
        <p:spPr>
          <a:xfrm>
            <a:off x="9158912" y="4785221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DESCRIPTOR VARIABLE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EA14D3-3EF5-8F70-ED8B-7CFB75611585}"/>
              </a:ext>
            </a:extLst>
          </p:cNvPr>
          <p:cNvSpPr/>
          <p:nvPr/>
        </p:nvSpPr>
        <p:spPr>
          <a:xfrm>
            <a:off x="9409307" y="4529582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DESCRIPTOR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A3746D-654A-59AF-62AC-50A9232D4CC3}"/>
              </a:ext>
            </a:extLst>
          </p:cNvPr>
          <p:cNvSpPr/>
          <p:nvPr/>
        </p:nvSpPr>
        <p:spPr>
          <a:xfrm>
            <a:off x="351887" y="159424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VALUE COMPONENT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EE31F2-1124-D145-BEB8-117926267003}"/>
              </a:ext>
            </a:extLst>
          </p:cNvPr>
          <p:cNvSpPr/>
          <p:nvPr/>
        </p:nvSpPr>
        <p:spPr>
          <a:xfrm>
            <a:off x="339377" y="4229697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DESCRIPTOR COMPONENT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B32B37-2704-EAB1-230A-B4FD6D29A2A5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>
            <a:off x="2632971" y="906676"/>
            <a:ext cx="18875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B5E005D-FE73-DCDE-D9FC-1244C3507E70}"/>
              </a:ext>
            </a:extLst>
          </p:cNvPr>
          <p:cNvSpPr txBox="1"/>
          <p:nvPr/>
        </p:nvSpPr>
        <p:spPr>
          <a:xfrm>
            <a:off x="2938698" y="901269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353558-C345-3659-4A9E-F01E92B2E0AF}"/>
              </a:ext>
            </a:extLst>
          </p:cNvPr>
          <p:cNvCxnSpPr>
            <a:cxnSpLocks/>
            <a:stCxn id="12" idx="3"/>
            <a:endCxn id="3" idx="2"/>
          </p:cNvCxnSpPr>
          <p:nvPr/>
        </p:nvCxnSpPr>
        <p:spPr>
          <a:xfrm flipV="1">
            <a:off x="2620461" y="3976658"/>
            <a:ext cx="2099187" cy="1000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21F0D8-C4C1-F215-DC9F-2C44123EE76C}"/>
              </a:ext>
            </a:extLst>
          </p:cNvPr>
          <p:cNvSpPr txBox="1"/>
          <p:nvPr/>
        </p:nvSpPr>
        <p:spPr>
          <a:xfrm rot="20003261">
            <a:off x="2709748" y="4196274"/>
            <a:ext cx="127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C1845D-32B8-022E-07BD-6BF10CC507B0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479919" y="1653927"/>
            <a:ext cx="12510" cy="2575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D00549-E553-7376-C65E-ADEFF1F12CBE}"/>
              </a:ext>
            </a:extLst>
          </p:cNvPr>
          <p:cNvSpPr txBox="1"/>
          <p:nvPr/>
        </p:nvSpPr>
        <p:spPr>
          <a:xfrm rot="16200000">
            <a:off x="843570" y="2581992"/>
            <a:ext cx="930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refersTo</a:t>
            </a:r>
            <a:endParaRPr lang="en-US" i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7555A1-F5DC-473E-D422-007FEB593AD8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5860190" y="2328418"/>
            <a:ext cx="2846677" cy="900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9C25384-34A7-FC33-37EB-8D20EC866473}"/>
              </a:ext>
            </a:extLst>
          </p:cNvPr>
          <p:cNvSpPr txBox="1"/>
          <p:nvPr/>
        </p:nvSpPr>
        <p:spPr>
          <a:xfrm rot="20550998">
            <a:off x="5848724" y="2337393"/>
            <a:ext cx="284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takesSubstantiveValuesFrom</a:t>
            </a:r>
            <a:endParaRPr lang="en-US" i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5C6118-EB3D-6FD5-B273-AC20ABDA753B}"/>
              </a:ext>
            </a:extLst>
          </p:cNvPr>
          <p:cNvCxnSpPr>
            <a:stCxn id="5" idx="2"/>
          </p:cNvCxnSpPr>
          <p:nvPr/>
        </p:nvCxnSpPr>
        <p:spPr>
          <a:xfrm>
            <a:off x="9847409" y="3075669"/>
            <a:ext cx="0" cy="1453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9689718-E2D0-B9F7-DC79-0FD25ABC23D4}"/>
              </a:ext>
            </a:extLst>
          </p:cNvPr>
          <p:cNvSpPr txBox="1"/>
          <p:nvPr/>
        </p:nvSpPr>
        <p:spPr>
          <a:xfrm>
            <a:off x="9833063" y="3472311"/>
            <a:ext cx="1515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hasValueFrom</a:t>
            </a:r>
            <a:endParaRPr lang="en-US" i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A963EA-4E6D-4B36-94F4-0DF26FED7F0E}"/>
              </a:ext>
            </a:extLst>
          </p:cNvPr>
          <p:cNvCxnSpPr>
            <a:stCxn id="6" idx="1"/>
            <a:endCxn id="2" idx="3"/>
          </p:cNvCxnSpPr>
          <p:nvPr/>
        </p:nvCxnSpPr>
        <p:spPr>
          <a:xfrm flipH="1" flipV="1">
            <a:off x="6872748" y="5724200"/>
            <a:ext cx="206985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24CE6C6-2C39-ADF2-69A7-3D535CA31E2B}"/>
              </a:ext>
            </a:extLst>
          </p:cNvPr>
          <p:cNvSpPr txBox="1"/>
          <p:nvPr/>
        </p:nvSpPr>
        <p:spPr>
          <a:xfrm>
            <a:off x="7413524" y="535858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D4E7B-9EEC-8C6E-989C-08A050B46FF9}"/>
              </a:ext>
            </a:extLst>
          </p:cNvPr>
          <p:cNvSpPr txBox="1"/>
          <p:nvPr/>
        </p:nvSpPr>
        <p:spPr>
          <a:xfrm>
            <a:off x="7272062" y="63501"/>
            <a:ext cx="50515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Additional classes needed to describe </a:t>
            </a:r>
          </a:p>
          <a:p>
            <a:r>
              <a:rPr lang="en-US" sz="2400" b="1" dirty="0"/>
              <a:t>long data – classes for “logical” </a:t>
            </a:r>
          </a:p>
          <a:p>
            <a:r>
              <a:rPr lang="en-US" sz="2400" b="1" dirty="0"/>
              <a:t>wide data also used </a:t>
            </a:r>
          </a:p>
        </p:txBody>
      </p:sp>
    </p:spTree>
    <p:extLst>
      <p:ext uri="{BB962C8B-B14F-4D97-AF65-F5344CB8AC3E}">
        <p14:creationId xmlns:p14="http://schemas.microsoft.com/office/powerpoint/2010/main" val="2844786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png">
            <a:extLst>
              <a:ext uri="{FF2B5EF4-FFF2-40B4-BE49-F238E27FC236}">
                <a16:creationId xmlns:a16="http://schemas.microsoft.com/office/drawing/2014/main" id="{0B76D6B8-FEDA-89A6-9643-AA9B890AB3F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172202" y="1443630"/>
            <a:ext cx="5667270" cy="3970739"/>
          </a:xfrm>
          <a:prstGeom prst="rect">
            <a:avLst/>
          </a:prstGeom>
          <a:ln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0FF2A3F-03F5-BF8A-22AA-5CB30715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 Data Example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1602BC-3727-BA2F-A91F-13F6AB4A6A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observation is identified with a structured key, composed of dimensions</a:t>
            </a:r>
          </a:p>
          <a:p>
            <a:r>
              <a:rPr lang="en-US" dirty="0"/>
              <a:t>Dimensions often have computable values (time, hierarchical categories, etc.) which can be used to “roll up” and “roll down” the values</a:t>
            </a:r>
          </a:p>
          <a:p>
            <a:pPr lvl="1"/>
            <a:r>
              <a:rPr lang="en-US" dirty="0"/>
              <a:t>Think OLAP cubes</a:t>
            </a:r>
          </a:p>
          <a:p>
            <a:r>
              <a:rPr lang="en-US" dirty="0"/>
              <a:t>In practice, the dimensions of keys are often presented in a standard sequence for convenience and ease of computation</a:t>
            </a:r>
          </a:p>
        </p:txBody>
      </p:sp>
    </p:spTree>
    <p:extLst>
      <p:ext uri="{BB962C8B-B14F-4D97-AF65-F5344CB8AC3E}">
        <p14:creationId xmlns:p14="http://schemas.microsoft.com/office/powerpoint/2010/main" val="734182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616751-45C2-8BD6-F5FE-35A381B3F08E}"/>
              </a:ext>
            </a:extLst>
          </p:cNvPr>
          <p:cNvSpPr txBox="1"/>
          <p:nvPr/>
        </p:nvSpPr>
        <p:spPr>
          <a:xfrm>
            <a:off x="354125" y="397232"/>
            <a:ext cx="341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DIMENSIONAL DATA STRUCTURES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23C4F2-5F06-804A-2A45-D0C5F0B797EE}"/>
              </a:ext>
            </a:extLst>
          </p:cNvPr>
          <p:cNvSpPr/>
          <p:nvPr/>
        </p:nvSpPr>
        <p:spPr>
          <a:xfrm>
            <a:off x="168264" y="3762667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67D5F-CEE0-9B96-DD42-0BE61E792BF1}"/>
              </a:ext>
            </a:extLst>
          </p:cNvPr>
          <p:cNvSpPr/>
          <p:nvPr/>
        </p:nvSpPr>
        <p:spPr>
          <a:xfrm>
            <a:off x="4262448" y="1309518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DIMENSION COMPONENT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675608-444E-19E2-07B5-0927F609FE09}"/>
              </a:ext>
            </a:extLst>
          </p:cNvPr>
          <p:cNvSpPr/>
          <p:nvPr/>
        </p:nvSpPr>
        <p:spPr>
          <a:xfrm>
            <a:off x="4262448" y="301541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MEASURE COMPONENT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24A55-351B-758F-8C80-73662EB93DE2}"/>
              </a:ext>
            </a:extLst>
          </p:cNvPr>
          <p:cNvSpPr/>
          <p:nvPr/>
        </p:nvSpPr>
        <p:spPr>
          <a:xfrm>
            <a:off x="4262448" y="480123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ATTRIBUTE COMPONENT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0D0E0C-1E24-9689-48D2-EB6AFB77EE77}"/>
              </a:ext>
            </a:extLst>
          </p:cNvPr>
          <p:cNvSpPr/>
          <p:nvPr/>
        </p:nvSpPr>
        <p:spPr>
          <a:xfrm>
            <a:off x="9282433" y="2936682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KEY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B15736-2989-099E-89CD-7626F3F0FF5D}"/>
              </a:ext>
            </a:extLst>
          </p:cNvPr>
          <p:cNvCxnSpPr>
            <a:stCxn id="6" idx="1"/>
            <a:endCxn id="5" idx="3"/>
          </p:cNvCxnSpPr>
          <p:nvPr/>
        </p:nvCxnSpPr>
        <p:spPr>
          <a:xfrm flipH="1">
            <a:off x="2449348" y="2056770"/>
            <a:ext cx="1813100" cy="2453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B08184-542A-701F-00A3-1180F26E59F3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>
            <a:off x="2449348" y="3762667"/>
            <a:ext cx="1813100" cy="747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DBFFBF-419A-AD6F-6014-36B18B9D9967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 flipV="1">
            <a:off x="2449348" y="4509919"/>
            <a:ext cx="1813100" cy="1038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39301-D313-E08E-C9D6-E06F4E0C1049}"/>
              </a:ext>
            </a:extLst>
          </p:cNvPr>
          <p:cNvSpPr txBox="1"/>
          <p:nvPr/>
        </p:nvSpPr>
        <p:spPr>
          <a:xfrm rot="20185357">
            <a:off x="2810768" y="3711622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F9610-4533-76CD-1D2E-8C4D45D65A94}"/>
              </a:ext>
            </a:extLst>
          </p:cNvPr>
          <p:cNvSpPr txBox="1"/>
          <p:nvPr/>
        </p:nvSpPr>
        <p:spPr>
          <a:xfrm rot="1965304">
            <a:off x="2766902" y="4600698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4C2FA8-EA3D-C4B8-3C2B-FCBF1A6C081D}"/>
              </a:ext>
            </a:extLst>
          </p:cNvPr>
          <p:cNvSpPr txBox="1"/>
          <p:nvPr/>
        </p:nvSpPr>
        <p:spPr>
          <a:xfrm rot="18282271">
            <a:off x="2640250" y="2688780"/>
            <a:ext cx="1276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isDefinedBy</a:t>
            </a:r>
            <a:endParaRPr lang="en-US" i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7C2A-71F6-9EBE-C25B-57A65FFFC7FD}"/>
              </a:ext>
            </a:extLst>
          </p:cNvPr>
          <p:cNvCxnSpPr>
            <a:cxnSpLocks/>
            <a:stCxn id="9" idx="0"/>
            <a:endCxn id="47" idx="2"/>
          </p:cNvCxnSpPr>
          <p:nvPr/>
        </p:nvCxnSpPr>
        <p:spPr>
          <a:xfrm flipH="1" flipV="1">
            <a:off x="10381996" y="1907838"/>
            <a:ext cx="40979" cy="1028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02F8623-5749-1F3E-27D9-4886AC69E750}"/>
              </a:ext>
            </a:extLst>
          </p:cNvPr>
          <p:cNvSpPr/>
          <p:nvPr/>
        </p:nvSpPr>
        <p:spPr>
          <a:xfrm>
            <a:off x="8824616" y="501596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DIMENSIONAL DATA STRUCTURE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99B65E-C901-C3B1-6BFE-3F66901E9E89}"/>
              </a:ext>
            </a:extLst>
          </p:cNvPr>
          <p:cNvCxnSpPr>
            <a:stCxn id="23" idx="0"/>
            <a:endCxn id="9" idx="2"/>
          </p:cNvCxnSpPr>
          <p:nvPr/>
        </p:nvCxnSpPr>
        <p:spPr>
          <a:xfrm flipV="1">
            <a:off x="9965158" y="4431185"/>
            <a:ext cx="457817" cy="584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ABA69A8-9220-688B-3887-35FBF36A212F}"/>
              </a:ext>
            </a:extLst>
          </p:cNvPr>
          <p:cNvSpPr txBox="1"/>
          <p:nvPr/>
        </p:nvSpPr>
        <p:spPr>
          <a:xfrm rot="17714812">
            <a:off x="9557249" y="4578274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973E5A1-85C7-C26A-2E99-AC48E5FE5F48}"/>
              </a:ext>
            </a:extLst>
          </p:cNvPr>
          <p:cNvCxnSpPr>
            <a:cxnSpLocks/>
            <a:stCxn id="23" idx="1"/>
            <a:endCxn id="6" idx="3"/>
          </p:cNvCxnSpPr>
          <p:nvPr/>
        </p:nvCxnSpPr>
        <p:spPr>
          <a:xfrm flipH="1" flipV="1">
            <a:off x="6543532" y="2056770"/>
            <a:ext cx="2281084" cy="3706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14D3975-5649-DBE1-F378-326CCEE42054}"/>
              </a:ext>
            </a:extLst>
          </p:cNvPr>
          <p:cNvSpPr txBox="1"/>
          <p:nvPr/>
        </p:nvSpPr>
        <p:spPr>
          <a:xfrm rot="3330053">
            <a:off x="7057285" y="3292476"/>
            <a:ext cx="511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F203BA6-FFD7-7432-E0DB-19F6620520A9}"/>
              </a:ext>
            </a:extLst>
          </p:cNvPr>
          <p:cNvCxnSpPr>
            <a:cxnSpLocks/>
            <a:stCxn id="23" idx="1"/>
            <a:endCxn id="7" idx="3"/>
          </p:cNvCxnSpPr>
          <p:nvPr/>
        </p:nvCxnSpPr>
        <p:spPr>
          <a:xfrm flipH="1" flipV="1">
            <a:off x="6543532" y="3762667"/>
            <a:ext cx="2281084" cy="2000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693B695-05EE-38D4-5100-D91232483143}"/>
              </a:ext>
            </a:extLst>
          </p:cNvPr>
          <p:cNvCxnSpPr>
            <a:cxnSpLocks/>
            <a:stCxn id="23" idx="1"/>
            <a:endCxn id="8" idx="3"/>
          </p:cNvCxnSpPr>
          <p:nvPr/>
        </p:nvCxnSpPr>
        <p:spPr>
          <a:xfrm flipH="1" flipV="1">
            <a:off x="6543532" y="5548482"/>
            <a:ext cx="2281084" cy="21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B7E49A3-7194-77D8-0523-E792A05BBC93}"/>
              </a:ext>
            </a:extLst>
          </p:cNvPr>
          <p:cNvSpPr txBox="1"/>
          <p:nvPr/>
        </p:nvSpPr>
        <p:spPr>
          <a:xfrm rot="2577914">
            <a:off x="6771822" y="3880850"/>
            <a:ext cx="587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C67101-7FCE-00B1-8ECC-AFCBC8BAA555}"/>
              </a:ext>
            </a:extLst>
          </p:cNvPr>
          <p:cNvSpPr txBox="1"/>
          <p:nvPr/>
        </p:nvSpPr>
        <p:spPr>
          <a:xfrm rot="11237129" flipH="1" flipV="1">
            <a:off x="7122456" y="5314065"/>
            <a:ext cx="60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FF5BA1-C7ED-A5AC-6A87-C2553E65A249}"/>
              </a:ext>
            </a:extLst>
          </p:cNvPr>
          <p:cNvSpPr/>
          <p:nvPr/>
        </p:nvSpPr>
        <p:spPr>
          <a:xfrm>
            <a:off x="9241454" y="413335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KEY COMPONENT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67AC93-1E69-E179-45CF-691CB616A760}"/>
              </a:ext>
            </a:extLst>
          </p:cNvPr>
          <p:cNvSpPr txBox="1"/>
          <p:nvPr/>
        </p:nvSpPr>
        <p:spPr>
          <a:xfrm>
            <a:off x="8823354" y="2307954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isComposedOf</a:t>
            </a:r>
            <a:endParaRPr lang="en-US" i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B89DAE0-F349-4A5B-8731-89B3F2DAC754}"/>
              </a:ext>
            </a:extLst>
          </p:cNvPr>
          <p:cNvCxnSpPr>
            <a:cxnSpLocks/>
            <a:stCxn id="47" idx="1"/>
            <a:endCxn id="6" idx="3"/>
          </p:cNvCxnSpPr>
          <p:nvPr/>
        </p:nvCxnSpPr>
        <p:spPr>
          <a:xfrm flipH="1">
            <a:off x="6543532" y="1160587"/>
            <a:ext cx="2697922" cy="896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40F42A0-2FD8-C3FF-AC90-6AFA0A475AAE}"/>
              </a:ext>
            </a:extLst>
          </p:cNvPr>
          <p:cNvSpPr txBox="1"/>
          <p:nvPr/>
        </p:nvSpPr>
        <p:spPr>
          <a:xfrm rot="20525378">
            <a:off x="7018743" y="1182719"/>
            <a:ext cx="153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correspondsTo</a:t>
            </a:r>
            <a:endParaRPr lang="en-US" i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96C458-9B35-EA06-6FD4-2B9D57A4C439}"/>
              </a:ext>
            </a:extLst>
          </p:cNvPr>
          <p:cNvSpPr/>
          <p:nvPr/>
        </p:nvSpPr>
        <p:spPr>
          <a:xfrm>
            <a:off x="197078" y="973919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 POSITION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C80C3E-6039-48CF-C8B3-86D10C407C55}"/>
              </a:ext>
            </a:extLst>
          </p:cNvPr>
          <p:cNvCxnSpPr>
            <a:stCxn id="29" idx="3"/>
            <a:endCxn id="6" idx="1"/>
          </p:cNvCxnSpPr>
          <p:nvPr/>
        </p:nvCxnSpPr>
        <p:spPr>
          <a:xfrm>
            <a:off x="2478162" y="1721171"/>
            <a:ext cx="1784286" cy="335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3BE529C-905A-32E7-9017-F9F6BC5E1277}"/>
              </a:ext>
            </a:extLst>
          </p:cNvPr>
          <p:cNvSpPr txBox="1"/>
          <p:nvPr/>
        </p:nvSpPr>
        <p:spPr>
          <a:xfrm rot="486546">
            <a:off x="2828305" y="1513816"/>
            <a:ext cx="87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indexes</a:t>
            </a:r>
          </a:p>
        </p:txBody>
      </p:sp>
    </p:spTree>
    <p:extLst>
      <p:ext uri="{BB962C8B-B14F-4D97-AF65-F5344CB8AC3E}">
        <p14:creationId xmlns:p14="http://schemas.microsoft.com/office/powerpoint/2010/main" val="3401593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DCF19-315E-3918-9E3C-83D9600B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Physical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5D4DA-2300-F4BA-496F-5D658DFCC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Assumption is that data is in a text-based form (delimited ASCII, CSV, etc.)</a:t>
            </a:r>
          </a:p>
          <a:p>
            <a:r>
              <a:rPr lang="en-US" dirty="0"/>
              <a:t>Physical data references a specific type of structure. It holds data formed into a single type of Logical Record, and then maps the Instance Variables in that record to positions/fields within a Physical Record Layout.</a:t>
            </a:r>
          </a:p>
          <a:p>
            <a:r>
              <a:rPr lang="en-US" dirty="0"/>
              <a:t>This is a simple description which works for a wide range of data, but does not cover all possibilities</a:t>
            </a:r>
          </a:p>
          <a:p>
            <a:pPr lvl="1"/>
            <a:r>
              <a:rPr lang="en-US" dirty="0"/>
              <a:t>Single record layout</a:t>
            </a:r>
          </a:p>
          <a:p>
            <a:pPr lvl="1"/>
            <a:r>
              <a:rPr lang="en-US" dirty="0"/>
              <a:t>Single logical record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403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7686B5-239F-F11E-B4D9-145018E73D4C}"/>
              </a:ext>
            </a:extLst>
          </p:cNvPr>
          <p:cNvSpPr/>
          <p:nvPr/>
        </p:nvSpPr>
        <p:spPr>
          <a:xfrm>
            <a:off x="507283" y="3142632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B547EA-9B80-A8D8-3D37-88074BB28565}"/>
              </a:ext>
            </a:extLst>
          </p:cNvPr>
          <p:cNvSpPr/>
          <p:nvPr/>
        </p:nvSpPr>
        <p:spPr>
          <a:xfrm>
            <a:off x="4048435" y="3142631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LOGICAL RECORD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892636-650E-7EDD-210B-0E2988646B53}"/>
              </a:ext>
            </a:extLst>
          </p:cNvPr>
          <p:cNvSpPr/>
          <p:nvPr/>
        </p:nvSpPr>
        <p:spPr>
          <a:xfrm>
            <a:off x="534628" y="535240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STRUCTURE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C0DC44-1F11-7381-3A43-EDDE3614BA1C}"/>
              </a:ext>
            </a:extLst>
          </p:cNvPr>
          <p:cNvSpPr/>
          <p:nvPr/>
        </p:nvSpPr>
        <p:spPr>
          <a:xfrm>
            <a:off x="7470056" y="514718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PHYSICAL </a:t>
            </a:r>
          </a:p>
          <a:p>
            <a:pPr algn="ctr"/>
            <a:r>
              <a:rPr lang="en-US" dirty="0"/>
              <a:t>SEGMENT LAYOUT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BC853A-5857-9D29-FB77-0BB3CA9FC4A3}"/>
              </a:ext>
            </a:extLst>
          </p:cNvPr>
          <p:cNvSpPr/>
          <p:nvPr/>
        </p:nvSpPr>
        <p:spPr>
          <a:xfrm>
            <a:off x="7470056" y="37976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MAPPING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123499-27C2-114D-ED87-CC3EDDD44976}"/>
              </a:ext>
            </a:extLst>
          </p:cNvPr>
          <p:cNvSpPr/>
          <p:nvPr/>
        </p:nvSpPr>
        <p:spPr>
          <a:xfrm>
            <a:off x="9547121" y="2650406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MAPPING POSITION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6050A0-A730-D05F-52D3-B8814BB55878}"/>
              </a:ext>
            </a:extLst>
          </p:cNvPr>
          <p:cNvSpPr/>
          <p:nvPr/>
        </p:nvSpPr>
        <p:spPr>
          <a:xfrm>
            <a:off x="4048435" y="383458"/>
            <a:ext cx="2281084" cy="1494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INSTANCE VARIABLE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990654-D395-DFF8-895A-032669227C02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620480" y="2029743"/>
            <a:ext cx="27345" cy="1112889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2A98FB-C231-8445-4EE9-54ABC7F24F56}"/>
              </a:ext>
            </a:extLst>
          </p:cNvPr>
          <p:cNvCxnSpPr>
            <a:cxnSpLocks/>
            <a:stCxn id="7" idx="0"/>
            <a:endCxn id="14" idx="2"/>
          </p:cNvCxnSpPr>
          <p:nvPr/>
        </p:nvCxnSpPr>
        <p:spPr>
          <a:xfrm flipV="1">
            <a:off x="5188977" y="1877961"/>
            <a:ext cx="0" cy="126467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9CE614-253A-97F1-1A17-DC56B8F402AF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V="1">
            <a:off x="8610598" y="1874269"/>
            <a:ext cx="0" cy="3272917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4B3F90-DE17-33C9-3C68-EBA2AA5E28BF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 flipV="1">
            <a:off x="6329519" y="1127018"/>
            <a:ext cx="1140537" cy="3692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1CA9D81-CD70-0297-4404-D93FD92608C8}"/>
              </a:ext>
            </a:extLst>
          </p:cNvPr>
          <p:cNvCxnSpPr>
            <a:cxnSpLocks/>
            <a:stCxn id="12" idx="3"/>
            <a:endCxn id="13" idx="0"/>
          </p:cNvCxnSpPr>
          <p:nvPr/>
        </p:nvCxnSpPr>
        <p:spPr>
          <a:xfrm>
            <a:off x="9751140" y="1127018"/>
            <a:ext cx="936523" cy="152338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AEA9075-3215-1B7A-4692-F9A2E2A9D2B0}"/>
              </a:ext>
            </a:extLst>
          </p:cNvPr>
          <p:cNvCxnSpPr>
            <a:cxnSpLocks/>
            <a:stCxn id="11" idx="3"/>
            <a:endCxn id="13" idx="2"/>
          </p:cNvCxnSpPr>
          <p:nvPr/>
        </p:nvCxnSpPr>
        <p:spPr>
          <a:xfrm flipV="1">
            <a:off x="9751140" y="4144909"/>
            <a:ext cx="936523" cy="174952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0CFB78-1DA1-22BE-E6BD-B6CA8AEB13BD}"/>
              </a:ext>
            </a:extLst>
          </p:cNvPr>
          <p:cNvCxnSpPr>
            <a:cxnSpLocks/>
            <a:stCxn id="11" idx="1"/>
            <a:endCxn id="7" idx="2"/>
          </p:cNvCxnSpPr>
          <p:nvPr/>
        </p:nvCxnSpPr>
        <p:spPr>
          <a:xfrm flipH="1" flipV="1">
            <a:off x="5188977" y="4637134"/>
            <a:ext cx="2281079" cy="1257304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0E6175D-8537-7513-3BF1-77B51FBB52D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788367" y="3889883"/>
            <a:ext cx="1260068" cy="1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56EE4D-9BDC-323E-685B-A2E6C0A33C24}"/>
              </a:ext>
            </a:extLst>
          </p:cNvPr>
          <p:cNvSpPr txBox="1"/>
          <p:nvPr/>
        </p:nvSpPr>
        <p:spPr>
          <a:xfrm>
            <a:off x="1694197" y="2360043"/>
            <a:ext cx="152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isStructuredBy</a:t>
            </a:r>
            <a:endParaRPr lang="en-US" i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65729D-BF6D-8D61-C4D7-2C727ACAB7F6}"/>
              </a:ext>
            </a:extLst>
          </p:cNvPr>
          <p:cNvSpPr txBox="1"/>
          <p:nvPr/>
        </p:nvSpPr>
        <p:spPr>
          <a:xfrm>
            <a:off x="2815712" y="3493832"/>
            <a:ext cx="1079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organizes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DA952A-BF91-223D-0643-6B6342389781}"/>
              </a:ext>
            </a:extLst>
          </p:cNvPr>
          <p:cNvSpPr txBox="1"/>
          <p:nvPr/>
        </p:nvSpPr>
        <p:spPr>
          <a:xfrm rot="16200000">
            <a:off x="4750876" y="2357283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1409A7-1D20-D320-614B-60F1C9572891}"/>
              </a:ext>
            </a:extLst>
          </p:cNvPr>
          <p:cNvSpPr txBox="1"/>
          <p:nvPr/>
        </p:nvSpPr>
        <p:spPr>
          <a:xfrm>
            <a:off x="6533533" y="757685"/>
            <a:ext cx="91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formats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21D0E1-7657-80C5-54F5-44FAA2967D88}"/>
              </a:ext>
            </a:extLst>
          </p:cNvPr>
          <p:cNvSpPr txBox="1"/>
          <p:nvPr/>
        </p:nvSpPr>
        <p:spPr>
          <a:xfrm rot="1607417">
            <a:off x="6007015" y="5019673"/>
            <a:ext cx="91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formats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23CB20-F6C5-67F3-16E9-BE656E0D4D03}"/>
              </a:ext>
            </a:extLst>
          </p:cNvPr>
          <p:cNvSpPr txBox="1"/>
          <p:nvPr/>
        </p:nvSpPr>
        <p:spPr>
          <a:xfrm rot="16200000">
            <a:off x="8170604" y="342900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59A2B5-0347-04C1-A717-9CFF6C919D07}"/>
              </a:ext>
            </a:extLst>
          </p:cNvPr>
          <p:cNvSpPr txBox="1"/>
          <p:nvPr/>
        </p:nvSpPr>
        <p:spPr>
          <a:xfrm rot="3434075">
            <a:off x="10023675" y="1657808"/>
            <a:ext cx="87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indexes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823C32E-0AD0-0102-AB55-C7344E61F8AB}"/>
              </a:ext>
            </a:extLst>
          </p:cNvPr>
          <p:cNvSpPr txBox="1"/>
          <p:nvPr/>
        </p:nvSpPr>
        <p:spPr>
          <a:xfrm rot="17916314">
            <a:off x="9839792" y="451545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has</a:t>
            </a:r>
          </a:p>
        </p:txBody>
      </p:sp>
    </p:spTree>
    <p:extLst>
      <p:ext uri="{BB962C8B-B14F-4D97-AF65-F5344CB8AC3E}">
        <p14:creationId xmlns:p14="http://schemas.microsoft.com/office/powerpoint/2010/main" val="2130363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07B4-9073-BFC3-D732-15C250EB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Significant Parts of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2B4C-A861-B79E-D08E-4A7DAD350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brief introduction does not cover the Process part of DDI-CDI</a:t>
            </a:r>
          </a:p>
          <a:p>
            <a:pPr lvl="1"/>
            <a:r>
              <a:rPr lang="en-US" dirty="0"/>
              <a:t>Can describe Activities, Steps, and Sub-Steps in a process flow – useful for describing business-level flows and chaining together other standard descriptions of processing (SDTL, PROV, etc.)</a:t>
            </a:r>
          </a:p>
          <a:p>
            <a:pPr lvl="1"/>
            <a:r>
              <a:rPr lang="en-US" dirty="0"/>
              <a:t>Can describe “black box” processes with a set of inputs, outputs, completion criteria and “playbook” functions</a:t>
            </a:r>
          </a:p>
          <a:p>
            <a:r>
              <a:rPr lang="en-US" dirty="0"/>
              <a:t>This introduction does not describe Datums</a:t>
            </a:r>
          </a:p>
          <a:p>
            <a:pPr lvl="1"/>
            <a:r>
              <a:rPr lang="en-US" dirty="0"/>
              <a:t>Individual data values within data</a:t>
            </a:r>
          </a:p>
          <a:p>
            <a:pPr lvl="1"/>
            <a:r>
              <a:rPr lang="en-US" dirty="0"/>
              <a:t>Powerful, but potentially complex</a:t>
            </a:r>
          </a:p>
          <a:p>
            <a:r>
              <a:rPr lang="en-US" dirty="0"/>
              <a:t>These features not currently used in CDIF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99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8397-7414-303E-03B8-F3AB2ED5F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DDI-CDI Sample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5175E-60C3-0B6E-34E8-1F02C0615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https://ddialliance.github.io/ddi-cdi-sample-generator/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79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2169</Words>
  <Application>Microsoft Office PowerPoint</Application>
  <PresentationFormat>Widescreen</PresentationFormat>
  <Paragraphs>341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-apple-system</vt:lpstr>
      <vt:lpstr>Aptos</vt:lpstr>
      <vt:lpstr>Arial</vt:lpstr>
      <vt:lpstr>Calibri</vt:lpstr>
      <vt:lpstr>Calibri Light</vt:lpstr>
      <vt:lpstr>Century Gothic</vt:lpstr>
      <vt:lpstr>Office Theme</vt:lpstr>
      <vt:lpstr>DDI-CDI Overview</vt:lpstr>
      <vt:lpstr>A New DDI Specification!</vt:lpstr>
      <vt:lpstr>DDI-CDI Functionality</vt:lpstr>
      <vt:lpstr>PowerPoint Presentation</vt:lpstr>
      <vt:lpstr>Specification and Documentation</vt:lpstr>
      <vt:lpstr>What Is the Purpose?</vt:lpstr>
      <vt:lpstr>Summarizing the Problem</vt:lpstr>
      <vt:lpstr>PowerPoint Presentation</vt:lpstr>
      <vt:lpstr>PowerPoint Presentation</vt:lpstr>
      <vt:lpstr>Alignment/Combination with other Standards</vt:lpstr>
      <vt:lpstr>DDI-CDI is “Semantics-Neutral”</vt:lpstr>
      <vt:lpstr>Important Upcoming Feature</vt:lpstr>
      <vt:lpstr>Early Adopters of the Specification</vt:lpstr>
      <vt:lpstr>Tools and Projects</vt:lpstr>
      <vt:lpstr>Discussion Slides</vt:lpstr>
      <vt:lpstr>Brief Tour of Core Data Description Features</vt:lpstr>
      <vt:lpstr>PowerPoint Presentation</vt:lpstr>
      <vt:lpstr>Variables and the Variable Cascade</vt:lpstr>
      <vt:lpstr>PowerPoint Presentation</vt:lpstr>
      <vt:lpstr>PowerPoint Presentation</vt:lpstr>
      <vt:lpstr>PowerPoint Presentation</vt:lpstr>
      <vt:lpstr>Wide Data Example</vt:lpstr>
      <vt:lpstr>PowerPoint Presentation</vt:lpstr>
      <vt:lpstr>Long Data Example</vt:lpstr>
      <vt:lpstr>PowerPoint Presentation</vt:lpstr>
      <vt:lpstr>Dimensional Data Example</vt:lpstr>
      <vt:lpstr>PowerPoint Presentation</vt:lpstr>
      <vt:lpstr>Describing Physical Data</vt:lpstr>
      <vt:lpstr>PowerPoint Presentation</vt:lpstr>
      <vt:lpstr>Other Significant Parts of the Model</vt:lpstr>
      <vt:lpstr>DDI-CDI Sample Generator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Arofan Gregory</dc:creator>
  <cp:lastModifiedBy>Wenzig, Knut</cp:lastModifiedBy>
  <cp:revision>20</cp:revision>
  <dcterms:created xsi:type="dcterms:W3CDTF">2023-03-27T13:02:25Z</dcterms:created>
  <dcterms:modified xsi:type="dcterms:W3CDTF">2025-02-06T14:09:58Z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2025-02-06T14:08:46Z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89e77033-8876-4ceb-8259-983014a016a2</vt:lpwstr>
  </property>
  <property fmtid="{D5CDD505-2E9C-101B-9397-08002B2CF9AE}" pid="7" name="MSIP_Label_defa4170-0d19-0005-0004-bc88714345d2_ActionId">
    <vt:lpwstr>eebbc38d-966d-4452-9235-85b0d76e494c</vt:lpwstr>
  </property>
  <property fmtid="{D5CDD505-2E9C-101B-9397-08002B2CF9AE}" pid="8" name="MSIP_Label_defa4170-0d19-0005-0004-bc88714345d2_ContentBits">
    <vt:lpwstr>0</vt:lpwstr>
  </property>
</Properties>
</file>